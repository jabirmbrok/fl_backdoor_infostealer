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With poisoning</c:v>
                </c:pt>
              </c:strCache>
            </c:strRef>
          </c:tx>
          <c:spPr>
            <a:solidFill>
              <a:srgbClr val="2E86DE"/>
            </a:solidFill>
            <a:effectLst/>
          </c:spPr>
          <c:invertIfNegative val="0"/>
          <c:dLbls>
            <c:numFmt formatCode="#,##0" sourceLinked="0"/>
            <c:txPr>
              <a:bodyPr/>
              <a:lstStyle/>
              <a:p>
                <a:pPr>
                  <a:defRPr b="0" i="0" strike="noStrike" sz="1100" u="none">
                    <a:solidFill>
                      <a:srgbClr val="1B2A41"/>
                    </a:solidFill>
                    <a:latin typeface="Calibri"/>
                  </a:defRPr>
                </a:pPr>
              </a:p>
            </c:txPr>
            <c:showLegendKey val="0"/>
            <c:showVal val="1"/>
            <c:showCatName val="0"/>
            <c:showSerName val="0"/>
            <c:showPercent val="0"/>
            <c:showBubbleSize val="0"/>
            <c:showLeaderLines val="0"/>
          </c:dLbls>
          <c:cat>
            <c:multiLvlStrRef>
              <c:f>Sheet1!$A$2:$A$5</c:f>
              <c:multiLvlStrCache>
                <c:ptCount val="4"/>
                <c:lvl>
                  <c:pt idx="0">
                    <c:v>Red / API</c:v>
                  </c:pt>
                  <c:pt idx="1">
                    <c:v>Green / network</c:v>
                  </c:pt>
                  <c:pt idx="2">
                    <c:v>Blue / fusion</c:v>
                  </c:pt>
                  <c:pt idx="3">
                    <c:v>Full RGB</c:v>
                  </c:pt>
                </c:lvl>
              </c:multiLvlStrCache>
            </c:multiLvlStrRef>
          </c:cat>
          <c:val>
            <c:numRef>
              <c:f>Sheet1!$B$2:$B$5</c:f>
              <c:numCache>
                <c:formatCode>General</c:formatCode>
                <c:ptCount val="4"/>
                <c:pt idx="0">
                  <c:v>5</c:v>
                </c:pt>
                <c:pt idx="1">
                  <c:v>5</c:v>
                </c:pt>
                <c:pt idx="2">
                  <c:v>15</c:v>
                </c:pt>
                <c:pt idx="3">
                  <c:v>15</c:v>
                </c:pt>
              </c:numCache>
            </c:numRef>
          </c:val>
        </c:ser>
        <c:ser>
          <c:idx val="1"/>
          <c:order val="1"/>
          <c:tx>
            <c:strRef>
              <c:f>Sheet1!$C$1</c:f>
              <c:strCache>
                <c:ptCount val="1"/>
                <c:pt idx="0">
                  <c:v>Trigger control (clean model)</c:v>
                </c:pt>
              </c:strCache>
            </c:strRef>
          </c:tx>
          <c:spPr>
            <a:solidFill>
              <a:srgbClr val="B8C4D0"/>
            </a:solidFill>
            <a:effectLst/>
          </c:spPr>
          <c:invertIfNegative val="0"/>
          <c:dLbls>
            <c:numFmt formatCode="#,##0" sourceLinked="0"/>
            <c:txPr>
              <a:bodyPr/>
              <a:lstStyle/>
              <a:p>
                <a:pPr>
                  <a:defRPr b="0" i="0" strike="noStrike" sz="1100" u="none">
                    <a:solidFill>
                      <a:srgbClr val="1B2A41"/>
                    </a:solidFill>
                    <a:latin typeface="Calibri"/>
                  </a:defRPr>
                </a:pPr>
              </a:p>
            </c:txPr>
            <c:showLegendKey val="0"/>
            <c:showVal val="1"/>
            <c:showCatName val="0"/>
            <c:showSerName val="0"/>
            <c:showPercent val="0"/>
            <c:showBubbleSize val="0"/>
            <c:showLeaderLines val="0"/>
          </c:dLbls>
          <c:cat>
            <c:multiLvlStrRef>
              <c:f>Sheet1!$A$2:$A$5</c:f>
              <c:multiLvlStrCache>
                <c:ptCount val="4"/>
                <c:lvl>
                  <c:pt idx="0">
                    <c:v>Red / API</c:v>
                  </c:pt>
                  <c:pt idx="1">
                    <c:v>Green / network</c:v>
                  </c:pt>
                  <c:pt idx="2">
                    <c:v>Blue / fusion</c:v>
                  </c:pt>
                  <c:pt idx="3">
                    <c:v>Full RGB</c:v>
                  </c:pt>
                </c:lvl>
              </c:multiLvlStrCache>
            </c:multiLvlStrRef>
          </c:cat>
          <c:val>
            <c:numRef>
              <c:f>Sheet1!$C$2:$C$5</c:f>
              <c:numCache>
                <c:formatCode>General</c:formatCode>
                <c:ptCount val="4"/>
                <c:pt idx="0">
                  <c:v>4</c:v>
                </c:pt>
                <c:pt idx="1">
                  <c:v>4</c:v>
                </c:pt>
                <c:pt idx="2">
                  <c:v>4</c:v>
                </c:pt>
                <c:pt idx="3">
                  <c:v>4</c:v>
                </c:pt>
              </c:numCache>
            </c:numRef>
          </c:val>
        </c:ser>
        <c:dLbls>
          <c:numFmt formatCode="#,##0" sourceLinked="0"/>
          <c:txPr>
            <a:bodyPr/>
            <a:lstStyle/>
            <a:p>
              <a:pPr>
                <a:defRPr b="0" i="0" strike="noStrike" sz="1100" u="none">
                  <a:solidFill>
                    <a:srgbClr val="1B2A41"/>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B7C"/>
                </a:solidFill>
                <a:latin typeface="Calibri"/>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12700" cap="flat">
              <a:solidFill>
                <a:srgbClr val="E3E8EE"/>
              </a:solidFill>
              <a:prstDash val="solid"/>
              <a:round/>
            </a:ln>
          </c:spPr>
        </c:majorGridlines>
        <c:title>
          <c:tx>
            <c:rich>
              <a:bodyPr/>
              <a:lstStyle/>
              <a:p>
                <a:pPr>
                  <a:defRPr sz="1100" b="0" i="0" u="none" strike="noStrike">
                    <a:solidFill>
                      <a:srgbClr val="5A6B7C"/>
                    </a:solidFill>
                    <a:latin typeface="Calibri"/>
                  </a:defRPr>
                </a:pPr>
                <a:r>
                  <a:rPr sz="1100" b="0" i="0" u="none" strike="noStrike">
                    <a:solidFill>
                      <a:srgbClr val="5A6B7C"/>
                    </a:solidFill>
                    <a:latin typeface="Calibri"/>
                  </a:rPr>
                  <a:t>AgentTesla flipped to FormBook, of 15</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7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Blue / fusion</c:v>
                </c:pt>
              </c:strCache>
            </c:strRef>
          </c:tx>
          <c:spPr>
            <a:solidFill>
              <a:srgbClr val="2E86DE"/>
            </a:solidFill>
            <a:effectLst/>
          </c:spPr>
          <c:invertIfNegative val="0"/>
          <c:dLbls>
            <c:numFmt formatCode="#,##0" sourceLinked="0"/>
            <c:txPr>
              <a:bodyPr/>
              <a:lstStyle/>
              <a:p>
                <a:pPr>
                  <a:defRPr b="0" i="0" strike="noStrike" sz="1100" u="none">
                    <a:solidFill>
                      <a:srgbClr val="1B2A41"/>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seed 42</c:v>
                  </c:pt>
                  <c:pt idx="1">
                    <c:v>seed 123</c:v>
                  </c:pt>
                  <c:pt idx="2">
                    <c:v>seed 2026</c:v>
                  </c:pt>
                </c:lvl>
              </c:multiLvlStrCache>
            </c:multiLvlStrRef>
          </c:cat>
          <c:val>
            <c:numRef>
              <c:f>Sheet1!$B$2:$B$4</c:f>
              <c:numCache>
                <c:formatCode>General</c:formatCode>
                <c:ptCount val="3"/>
                <c:pt idx="0">
                  <c:v>15</c:v>
                </c:pt>
                <c:pt idx="1">
                  <c:v>3</c:v>
                </c:pt>
                <c:pt idx="2">
                  <c:v>5</c:v>
                </c:pt>
              </c:numCache>
            </c:numRef>
          </c:val>
        </c:ser>
        <c:ser>
          <c:idx val="1"/>
          <c:order val="1"/>
          <c:tx>
            <c:strRef>
              <c:f>Sheet1!$C$1</c:f>
              <c:strCache>
                <c:ptCount val="1"/>
                <c:pt idx="0">
                  <c:v>Full RGB</c:v>
                </c:pt>
              </c:strCache>
            </c:strRef>
          </c:tx>
          <c:spPr>
            <a:solidFill>
              <a:srgbClr val="7D3C98"/>
            </a:solidFill>
            <a:effectLst/>
          </c:spPr>
          <c:invertIfNegative val="0"/>
          <c:dLbls>
            <c:numFmt formatCode="#,##0" sourceLinked="0"/>
            <c:txPr>
              <a:bodyPr/>
              <a:lstStyle/>
              <a:p>
                <a:pPr>
                  <a:defRPr b="0" i="0" strike="noStrike" sz="1100" u="none">
                    <a:solidFill>
                      <a:srgbClr val="1B2A41"/>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seed 42</c:v>
                  </c:pt>
                  <c:pt idx="1">
                    <c:v>seed 123</c:v>
                  </c:pt>
                  <c:pt idx="2">
                    <c:v>seed 2026</c:v>
                  </c:pt>
                </c:lvl>
              </c:multiLvlStrCache>
            </c:multiLvlStrRef>
          </c:cat>
          <c:val>
            <c:numRef>
              <c:f>Sheet1!$C$2:$C$4</c:f>
              <c:numCache>
                <c:formatCode>General</c:formatCode>
                <c:ptCount val="3"/>
                <c:pt idx="0">
                  <c:v>6</c:v>
                </c:pt>
                <c:pt idx="1">
                  <c:v>15</c:v>
                </c:pt>
                <c:pt idx="2">
                  <c:v>6</c:v>
                </c:pt>
              </c:numCache>
            </c:numRef>
          </c:val>
        </c:ser>
        <c:dLbls>
          <c:numFmt formatCode="#,##0" sourceLinked="0"/>
          <c:txPr>
            <a:bodyPr/>
            <a:lstStyle/>
            <a:p>
              <a:pPr>
                <a:defRPr b="0" i="0" strike="noStrike" sz="1100" u="none">
                  <a:solidFill>
                    <a:srgbClr val="1B2A41"/>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B7C"/>
                </a:solidFill>
                <a:latin typeface="Calibri"/>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12700" cap="flat">
              <a:solidFill>
                <a:srgbClr val="E3E8EE"/>
              </a:solidFill>
              <a:prstDash val="solid"/>
              <a:round/>
            </a:ln>
          </c:spPr>
        </c:majorGridlines>
        <c:title>
          <c:tx>
            <c:rich>
              <a:bodyPr/>
              <a:lstStyle/>
              <a:p>
                <a:pPr>
                  <a:defRPr sz="1100" b="0" i="0" u="none" strike="noStrike">
                    <a:solidFill>
                      <a:srgbClr val="5A6B7C"/>
                    </a:solidFill>
                    <a:latin typeface="Calibri"/>
                  </a:defRPr>
                </a:pPr>
                <a:r>
                  <a:rPr sz="1100" b="0" i="0" u="none" strike="noStrike">
                    <a:solidFill>
                      <a:srgbClr val="5A6B7C"/>
                    </a:solidFill>
                    <a:latin typeface="Calibri"/>
                  </a:rPr>
                  <a:t>attack success under Multi-Krum, of 15</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7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Contrast against a white trigger</c:v>
                </c:pt>
              </c:strCache>
            </c:strRef>
          </c:tx>
          <c:spPr>
            <a:solidFill>
              <a:srgbClr val="C0392B"/>
            </a:solidFill>
            <a:effectLst/>
          </c:spPr>
          <c:invertIfNegative val="0"/>
          <c:dLbls>
            <c:numFmt formatCode="0.0" sourceLinked="0"/>
            <c:txPr>
              <a:bodyPr/>
              <a:lstStyle/>
              <a:p>
                <a:pPr>
                  <a:defRPr b="0" i="0" strike="noStrike" sz="1100" u="none">
                    <a:solidFill>
                      <a:srgbClr val="1B2A41"/>
                    </a:solidFill>
                    <a:latin typeface="Calibri"/>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27AE60"/>
              </a:solidFill>
              <a:effectLst/>
            </c:spPr>
          </c:dPt>
          <c:dPt>
            <c:idx val="2"/>
            <c:invertIfNegative val="0"/>
            <c:bubble3D val="0"/>
            <c:spPr>
              <a:solidFill>
                <a:srgbClr val="2E86DE"/>
              </a:solidFill>
              <a:effectLst/>
            </c:spPr>
          </c:dPt>
          <c:cat>
            <c:multiLvlStrRef>
              <c:f>Sheet1!$A$2:$A$4</c:f>
              <c:multiLvlStrCache>
                <c:ptCount val="3"/>
                <c:lvl>
                  <c:pt idx="0">
                    <c:v>R (API)</c:v>
                  </c:pt>
                  <c:pt idx="1">
                    <c:v>G (network)</c:v>
                  </c:pt>
                  <c:pt idx="2">
                    <c:v>B (fusion)</c:v>
                  </c:pt>
                </c:lvl>
              </c:multiLvlStrCache>
            </c:multiLvlStrRef>
          </c:cat>
          <c:val>
            <c:numRef>
              <c:f>Sheet1!$B$2:$B$4</c:f>
              <c:numCache>
                <c:formatCode>General</c:formatCode>
                <c:ptCount val="3"/>
                <c:pt idx="0">
                  <c:v>40.4</c:v>
                </c:pt>
                <c:pt idx="1">
                  <c:v>206.7</c:v>
                </c:pt>
                <c:pt idx="2">
                  <c:v>233.4</c:v>
                </c:pt>
              </c:numCache>
            </c:numRef>
          </c:val>
        </c:ser>
        <c:dLbls>
          <c:numFmt formatCode="0.0" sourceLinked="0"/>
          <c:txPr>
            <a:bodyPr/>
            <a:lstStyle/>
            <a:p>
              <a:pPr>
                <a:defRPr b="0" i="0" strike="noStrike" sz="1100" u="none">
                  <a:solidFill>
                    <a:srgbClr val="1B2A41"/>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B7C"/>
                </a:solidFill>
                <a:latin typeface="Calibri"/>
              </a:defRPr>
            </a:pPr>
            <a:endParaRPr lang="en-US"/>
          </a:p>
        </c:txPr>
        <c:crossAx val="2094734552"/>
        <c:crosses val="autoZero"/>
        <c:auto val="1"/>
        <c:lblAlgn val="ctr"/>
        <c:noMultiLvlLbl val="1"/>
      </c:catAx>
      <c:valAx>
        <c:axId val="2094734552"/>
        <c:scaling>
          <c:orientation val="minMax"/>
          <c:max val="255"/>
          <c:min val="0"/>
        </c:scaling>
        <c:delete val="0"/>
        <c:axPos val="l"/>
        <c:majorGridlines>
          <c:spPr>
            <a:ln w="12700" cap="flat">
              <a:solidFill>
                <a:srgbClr val="E3E8EE"/>
              </a:solidFill>
              <a:prstDash val="solid"/>
              <a:round/>
            </a:ln>
          </c:spPr>
        </c:majorGridlines>
        <c:title>
          <c:tx>
            <c:rich>
              <a:bodyPr/>
              <a:lstStyle/>
              <a:p>
                <a:pPr>
                  <a:defRPr sz="1100" b="0" i="0" u="none" strike="noStrike">
                    <a:solidFill>
                      <a:srgbClr val="5A6B7C"/>
                    </a:solidFill>
                    <a:latin typeface="Calibri"/>
                  </a:defRPr>
                </a:pPr>
                <a:r>
                  <a:rPr sz="1100" b="0" i="0" u="none" strike="noStrike">
                    <a:solidFill>
                      <a:srgbClr val="5A6B7C"/>
                    </a:solidFill>
                    <a:latin typeface="Calibri"/>
                  </a:rPr>
                  <a:t>levels the trigger moves the channel</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7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follows the paper: introduction, methodology, results, discussion, conclusion. The five squares at the bottom right of every slide show which section we are in. Headline result: a trigger confined to the fusion channel alone matches one spanning all three, even though that channel is derived from the other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threat up before the method. The infostealer capability and the image encoding are both prior work; we claim no novelty for them, only for what we do with the channels. Keep the 'can enable' wording on account compromise.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closest papers are Severi et al., USENIX Security 2021, and Yang et al., IEEE S&amp;P 2023, both added in the camera-ready at a reviewer's request. Say 'most' and 'underexplored', not 'nobody has ever'. Our delta runs on three axes at once: static to dynamic, centralized to federated, feature space to representation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Contribution 2 is 'select', not 'RGB-stack wins': the two representations were measured on different split files, so the camera-ready dropped the cross-representation comparison. Never deliver 'serious threat' without the controlled-IID qualifier.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Dynamic analysis only, no static features. Flag the scale out loud: 15 test images per family is small, and one flipped image is one fifteenth of the rate. The paper does not enumerate the behavior categories behind the API tile, so do not offer them if asked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determinism was verified against the shipped dataset: FindEdges(mean(R,G)) reproduced with zero difference on 400 of 400 images. This answers a reviewer directly: blue cannot owe its effectiveness to information content, because it has none the other two lack. Zero-pixel share 62.8% dataset-wide, 54.5% on the AgentTesla row of results/tables/channel_stats.csv.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RGB-stack is not shown to be the better representation. That claim was removed in the camera-ready because the rows sit on different test sets. All backbones are trained from scratch. SmallCNN is three conv blocks of 32, 64 and 128 channels if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capability is deliberately weak: no update scaling, no model replacement, so model-replacement work is background rather than the attack used here. The trigger is written after normalization.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Disclose the deviation here and give the retrained numbers later, when the trigger-control result is on screen. Multi-Krum is taken as a standard robust-aggregation baseline, not as a defense we propose.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Pooling across seeds is legitimate because the split is re-drawn per seed, so the pooled samples are distinct. Red and green were run on seed 42 only. Leave the mechanism to the discussion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single-seed screening is exactly the bias a reviewer flagged, and that the next two slides show why it matters. The clean-accuracy column is seed 42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say the aggregate metrics never flag the attack: nothing here tests a detector, and the per-seed numbers move. The honest statement is that accuracy and macro-F1 alone did not separate poisoned from clean runs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correction a reviewer prompted and it is the honest reading: bimodal, not graded. Seed 42, the seed that chose the defense, is the seed where blue/fusion defeats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measurement is on clean images, not on the trained model, so the evidence is correlational. Green is the open case: its contrast is high and the trigger still does nothing measurable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mechanism behind the bimodality. Be candid about n = 6 and about the Pearson value leaning on the two 15/15 runs, because a hostile question here is free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per-round view of the same bimodality. The instability is the point: a defense you cannot predict round to round is not one you can deploy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limitations out loud rather than waiting to be asked. Every threat claim in this talk is scoped to a controlled IID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defense implication: the attack surface sits in the representation, and we propose no defense here. Thank the reviewers; the per-seed reporting and the significance tests came from their comments.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0"/>
        </a:solidFill>
      </p:bgPr>
    </p:bg>
    <p:spTree>
      <p:nvGrpSpPr>
        <p:cNvPr id="1" name=""/>
        <p:cNvGrpSpPr/>
        <p:nvPr/>
      </p:nvGrpSpPr>
      <p:grpSpPr>
        <a:xfrm>
          <a:off x="0" y="0"/>
          <a:ext cx="0" cy="0"/>
          <a:chOff x="0" y="0"/>
          <a:chExt cx="0" cy="0"/>
        </a:xfrm>
      </p:grpSpPr>
      <p:sp>
        <p:nvSpPr>
          <p:cNvPr id="2" name="Text 0"/>
          <p:cNvSpPr txBox="1"/>
          <p:nvPr/>
        </p:nvSpPr>
        <p:spPr>
          <a:xfrm>
            <a:off x="640080" y="1874520"/>
            <a:ext cx="1060704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Channel-Aware Backdoor Attacks</a:t>
            </a:r>
            <a:endParaRPr lang="en-US" sz="4400" dirty="0"/>
          </a:p>
        </p:txBody>
      </p:sp>
      <p:sp>
        <p:nvSpPr>
          <p:cNvPr id="3" name="Text 1"/>
          <p:cNvSpPr txBox="1"/>
          <p:nvPr/>
        </p:nvSpPr>
        <p:spPr>
          <a:xfrm>
            <a:off x="640080" y="2697480"/>
            <a:ext cx="10607040" cy="594360"/>
          </a:xfrm>
          <a:prstGeom prst="rect">
            <a:avLst/>
          </a:prstGeom>
          <a:noFill/>
          <a:ln/>
        </p:spPr>
        <p:txBody>
          <a:bodyPr wrap="square" lIns="0" tIns="0" rIns="0" bIns="0" rtlCol="0" anchor="ctr"/>
          <a:lstStyle/>
          <a:p>
            <a:pPr indent="0" marL="0">
              <a:buNone/>
            </a:pPr>
            <a:r>
              <a:rPr lang="en-US" sz="2700" dirty="0">
                <a:solidFill>
                  <a:srgbClr val="9FB3C8"/>
                </a:solidFill>
                <a:latin typeface="Cambria" pitchFamily="34" charset="0"/>
                <a:ea typeface="Cambria" pitchFamily="34" charset="-122"/>
                <a:cs typeface="Cambria" pitchFamily="34" charset="-120"/>
              </a:rPr>
              <a:t>Against Federated Infostealer Malware Classification</a:t>
            </a:r>
            <a:endParaRPr lang="en-US" sz="2700" dirty="0"/>
          </a:p>
        </p:txBody>
      </p:sp>
      <p:sp>
        <p:nvSpPr>
          <p:cNvPr id="4" name="Text 2"/>
          <p:cNvSpPr txBox="1"/>
          <p:nvPr/>
        </p:nvSpPr>
        <p:spPr>
          <a:xfrm>
            <a:off x="640080" y="3255264"/>
            <a:ext cx="10607040" cy="411480"/>
          </a:xfrm>
          <a:prstGeom prst="rect">
            <a:avLst/>
          </a:prstGeom>
          <a:noFill/>
          <a:ln/>
        </p:spPr>
        <p:txBody>
          <a:bodyPr wrap="square" lIns="0" tIns="0" rIns="0" bIns="0" rtlCol="0" anchor="ctr"/>
          <a:lstStyle/>
          <a:p>
            <a:pPr indent="0" marL="0">
              <a:buNone/>
            </a:pPr>
            <a:r>
              <a:rPr lang="en-US" sz="1600" dirty="0">
                <a:solidFill>
                  <a:srgbClr val="7A8FA6"/>
                </a:solidFill>
                <a:latin typeface="Calibri" pitchFamily="34" charset="0"/>
                <a:ea typeface="Calibri" pitchFamily="34" charset="-122"/>
                <a:cs typeface="Calibri" pitchFamily="34" charset="-120"/>
              </a:rPr>
              <a:t>Using Dynamic API-Call and Network Representations</a:t>
            </a:r>
            <a:endParaRPr lang="en-US" sz="1600" dirty="0"/>
          </a:p>
        </p:txBody>
      </p:sp>
      <p:sp>
        <p:nvSpPr>
          <p:cNvPr id="5" name="Shape 3"/>
          <p:cNvSpPr/>
          <p:nvPr/>
        </p:nvSpPr>
        <p:spPr>
          <a:xfrm>
            <a:off x="640080" y="4114800"/>
            <a:ext cx="274320" cy="274320"/>
          </a:xfrm>
          <a:prstGeom prst="rect">
            <a:avLst/>
          </a:prstGeom>
          <a:solidFill>
            <a:srgbClr val="C0392B"/>
          </a:solidFill>
          <a:ln/>
        </p:spPr>
      </p:sp>
      <p:sp>
        <p:nvSpPr>
          <p:cNvPr id="6" name="Shape 4"/>
          <p:cNvSpPr/>
          <p:nvPr/>
        </p:nvSpPr>
        <p:spPr>
          <a:xfrm>
            <a:off x="1024128" y="4114800"/>
            <a:ext cx="274320" cy="274320"/>
          </a:xfrm>
          <a:prstGeom prst="rect">
            <a:avLst/>
          </a:prstGeom>
          <a:solidFill>
            <a:srgbClr val="27AE60"/>
          </a:solidFill>
          <a:ln/>
        </p:spPr>
      </p:sp>
      <p:sp>
        <p:nvSpPr>
          <p:cNvPr id="7" name="Shape 5"/>
          <p:cNvSpPr/>
          <p:nvPr/>
        </p:nvSpPr>
        <p:spPr>
          <a:xfrm>
            <a:off x="1408176" y="4114800"/>
            <a:ext cx="274320" cy="274320"/>
          </a:xfrm>
          <a:prstGeom prst="rect">
            <a:avLst/>
          </a:prstGeom>
          <a:solidFill>
            <a:srgbClr val="2E86DE"/>
          </a:solidFill>
          <a:ln/>
        </p:spPr>
      </p:sp>
      <p:sp>
        <p:nvSpPr>
          <p:cNvPr id="8" name="Text 6"/>
          <p:cNvSpPr txBox="1"/>
          <p:nvPr/>
        </p:nvSpPr>
        <p:spPr>
          <a:xfrm>
            <a:off x="640080" y="4846320"/>
            <a:ext cx="10607040" cy="3200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Mochamad Asryl Aziz  ·  Moh. Jabir Mubarok  ·  Eka Fitria</a:t>
            </a:r>
            <a:endParaRPr lang="en-US" sz="1400" dirty="0"/>
          </a:p>
        </p:txBody>
      </p:sp>
      <p:sp>
        <p:nvSpPr>
          <p:cNvPr id="9" name="Text 7"/>
          <p:cNvSpPr txBox="1"/>
          <p:nvPr/>
        </p:nvSpPr>
        <p:spPr>
          <a:xfrm>
            <a:off x="640080" y="5212080"/>
            <a:ext cx="10607040" cy="320040"/>
          </a:xfrm>
          <a:prstGeom prst="rect">
            <a:avLst/>
          </a:prstGeom>
          <a:noFill/>
          <a:ln/>
        </p:spPr>
        <p:txBody>
          <a:bodyPr wrap="square" lIns="0" tIns="0" rIns="0" bIns="0" rtlCol="0" anchor="ctr"/>
          <a:lstStyle/>
          <a:p>
            <a:pPr indent="0" marL="0">
              <a:buNone/>
            </a:pPr>
            <a:r>
              <a:rPr lang="en-US" sz="1300" dirty="0">
                <a:solidFill>
                  <a:srgbClr val="5A6B7C"/>
                </a:solidFill>
                <a:latin typeface="Calibri" pitchFamily="34" charset="0"/>
                <a:ea typeface="Calibri" pitchFamily="34" charset="-122"/>
                <a:cs typeface="Calibri" pitchFamily="34" charset="-120"/>
              </a:rPr>
              <a:t>IWBIS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E86DE"/>
                </a:solidFill>
                <a:latin typeface="Calibri" pitchFamily="34" charset="0"/>
                <a:ea typeface="Calibri" pitchFamily="34" charset="-122"/>
                <a:cs typeface="Calibri" pitchFamily="34" charset="-120"/>
              </a:rPr>
              <a:t>INTRODUCTION   ·   1 of 3</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Federated learning helps, and opens a door</a:t>
            </a:r>
            <a:endParaRPr lang="en-US" sz="3000" dirty="0"/>
          </a:p>
        </p:txBody>
      </p:sp>
      <p:sp>
        <p:nvSpPr>
          <p:cNvPr id="4" name="Shape 2"/>
          <p:cNvSpPr/>
          <p:nvPr/>
        </p:nvSpPr>
        <p:spPr>
          <a:xfrm>
            <a:off x="10506456" y="6291072"/>
            <a:ext cx="137160" cy="137160"/>
          </a:xfrm>
          <a:prstGeom prst="rect">
            <a:avLst/>
          </a:prstGeom>
          <a:solidFill>
            <a:srgbClr val="2E86DE"/>
          </a:solidFill>
          <a:ln/>
        </p:spPr>
      </p:sp>
      <p:sp>
        <p:nvSpPr>
          <p:cNvPr id="5" name="Shape 3"/>
          <p:cNvSpPr/>
          <p:nvPr/>
        </p:nvSpPr>
        <p:spPr>
          <a:xfrm>
            <a:off x="10725912" y="6291072"/>
            <a:ext cx="137160" cy="137160"/>
          </a:xfrm>
          <a:prstGeom prst="rect">
            <a:avLst/>
          </a:prstGeom>
          <a:solidFill>
            <a:srgbClr val="D3DCE4"/>
          </a:solidFill>
          <a:ln/>
        </p:spPr>
      </p:sp>
      <p:sp>
        <p:nvSpPr>
          <p:cNvPr id="6" name="Shape 4"/>
          <p:cNvSpPr/>
          <p:nvPr/>
        </p:nvSpPr>
        <p:spPr>
          <a:xfrm>
            <a:off x="10945368" y="6291072"/>
            <a:ext cx="137160" cy="137160"/>
          </a:xfrm>
          <a:prstGeom prst="rect">
            <a:avLst/>
          </a:prstGeom>
          <a:solidFill>
            <a:srgbClr val="D3DCE4"/>
          </a:solidFill>
          <a:ln/>
        </p:spPr>
      </p:sp>
      <p:sp>
        <p:nvSpPr>
          <p:cNvPr id="7" name="Shape 5"/>
          <p:cNvSpPr/>
          <p:nvPr/>
        </p:nvSpPr>
        <p:spPr>
          <a:xfrm>
            <a:off x="11164824" y="6291072"/>
            <a:ext cx="137160" cy="137160"/>
          </a:xfrm>
          <a:prstGeom prst="rect">
            <a:avLst/>
          </a:prstGeom>
          <a:solidFill>
            <a:srgbClr val="D3DCE4"/>
          </a:solidFill>
          <a:ln/>
        </p:spPr>
      </p:sp>
      <p:sp>
        <p:nvSpPr>
          <p:cNvPr id="8" name="Shape 6"/>
          <p:cNvSpPr/>
          <p:nvPr/>
        </p:nvSpPr>
        <p:spPr>
          <a:xfrm>
            <a:off x="11384280" y="6291072"/>
            <a:ext cx="137160" cy="137160"/>
          </a:xfrm>
          <a:prstGeom prst="rect">
            <a:avLst/>
          </a:prstGeom>
          <a:solidFill>
            <a:srgbClr val="D3DCE4"/>
          </a:solidFill>
          <a:ln/>
        </p:spPr>
      </p:sp>
      <p:sp>
        <p:nvSpPr>
          <p:cNvPr id="9" name="Text 7"/>
          <p:cNvSpPr txBox="1"/>
          <p:nvPr/>
        </p:nvSpPr>
        <p:spPr>
          <a:xfrm>
            <a:off x="640080" y="1691640"/>
            <a:ext cx="6400800" cy="2651760"/>
          </a:xfrm>
          <a:prstGeom prst="rect">
            <a:avLst/>
          </a:prstGeom>
          <a:noFill/>
          <a:ln/>
        </p:spPr>
        <p:txBody>
          <a:bodyPr wrap="square" lIns="0" tIns="0" rIns="0" bIns="0" rtlCol="0" anchor="t"/>
          <a:lstStyle/>
          <a:p>
            <a:pPr marL="342900" indent="-342900">
              <a:lnSpc>
                <a:spcPts val="2000"/>
              </a:lnSpc>
              <a:spcAft>
                <a:spcPts val="1100"/>
              </a:spcAft>
              <a:buSzPct val="100000"/>
              <a:buChar char="•"/>
            </a:pPr>
            <a:r>
              <a:rPr lang="en-US" sz="1450" dirty="0">
                <a:solidFill>
                  <a:srgbClr val="1B2A41"/>
                </a:solidFill>
                <a:latin typeface="Calibri" pitchFamily="34" charset="0"/>
                <a:ea typeface="Calibri" pitchFamily="34" charset="-122"/>
                <a:cs typeface="Calibri" pitchFamily="34" charset="-120"/>
              </a:rPr>
              <a:t>Infostealers take credentials, browser data and session cookies, so classifying the family feeds triage and incident response.</a:t>
            </a:r>
            <a:endParaRPr lang="en-US" sz="1450" dirty="0"/>
          </a:p>
          <a:p>
            <a:pPr marL="342900" indent="-342900">
              <a:lnSpc>
                <a:spcPts val="2000"/>
              </a:lnSpc>
              <a:spcAft>
                <a:spcPts val="1100"/>
              </a:spcAft>
              <a:buSzPct val="100000"/>
              <a:buChar char="•"/>
            </a:pPr>
            <a:r>
              <a:rPr lang="en-US" sz="1450" dirty="0">
                <a:solidFill>
                  <a:srgbClr val="1B2A41"/>
                </a:solidFill>
                <a:latin typeface="Calibri" pitchFamily="34" charset="0"/>
                <a:ea typeface="Calibri" pitchFamily="34" charset="-122"/>
                <a:cs typeface="Calibri" pitchFamily="34" charset="-120"/>
              </a:rPr>
              <a:t>Dynamic analysis carries the signal: API calls for host execution, network artifacts for communication. Both encode as CNN images.</a:t>
            </a:r>
            <a:endParaRPr lang="en-US" sz="1450" dirty="0"/>
          </a:p>
          <a:p>
            <a:pPr marL="342900" indent="-342900">
              <a:lnSpc>
                <a:spcPts val="2000"/>
              </a:lnSpc>
              <a:buSzPct val="100000"/>
              <a:buChar char="•"/>
            </a:pPr>
            <a:r>
              <a:rPr lang="en-US" sz="1450" dirty="0">
                <a:solidFill>
                  <a:srgbClr val="1B2A41"/>
                </a:solidFill>
                <a:latin typeface="Calibri" pitchFamily="34" charset="0"/>
                <a:ea typeface="Calibri" pitchFamily="34" charset="-122"/>
                <a:cs typeface="Calibri" pitchFamily="34" charset="-120"/>
              </a:rPr>
              <a:t>Federated learning trains one classifier without moving raw data, but the server sees only client updates, never the local data.</a:t>
            </a:r>
            <a:endParaRPr lang="en-US" sz="1450" dirty="0"/>
          </a:p>
        </p:txBody>
      </p:sp>
      <p:sp>
        <p:nvSpPr>
          <p:cNvPr id="10" name="Text 8"/>
          <p:cNvSpPr txBox="1"/>
          <p:nvPr/>
        </p:nvSpPr>
        <p:spPr>
          <a:xfrm>
            <a:off x="640080" y="4572000"/>
            <a:ext cx="10881360" cy="640080"/>
          </a:xfrm>
          <a:prstGeom prst="rect">
            <a:avLst/>
          </a:prstGeom>
          <a:noFill/>
          <a:ln/>
        </p:spPr>
        <p:txBody>
          <a:bodyPr wrap="square" lIns="0" tIns="0" rIns="0" bIns="0" rtlCol="0" anchor="t"/>
          <a:lstStyle/>
          <a:p>
            <a:pPr indent="0" marL="0">
              <a:lnSpc>
                <a:spcPts val="1700"/>
              </a:lnSpc>
              <a:buNone/>
            </a:pPr>
            <a:r>
              <a:rPr lang="en-US" sz="1250" i="1" dirty="0">
                <a:solidFill>
                  <a:srgbClr val="5A6B7C"/>
                </a:solidFill>
                <a:latin typeface="Calibri" pitchFamily="34" charset="0"/>
                <a:ea typeface="Calibri" pitchFamily="34" charset="-122"/>
                <a:cs typeface="Calibri" pitchFamily="34" charset="-120"/>
              </a:rPr>
              <a:t>The server cannot inspect local training data. That is the opening a malicious client needs.</a:t>
            </a:r>
            <a:endParaRPr lang="en-US" sz="1250" dirty="0"/>
          </a:p>
        </p:txBody>
      </p:sp>
      <p:sp>
        <p:nvSpPr>
          <p:cNvPr id="11" name="Shape 9"/>
          <p:cNvSpPr/>
          <p:nvPr/>
        </p:nvSpPr>
        <p:spPr>
          <a:xfrm>
            <a:off x="7589520" y="1691640"/>
            <a:ext cx="3931920" cy="3291840"/>
          </a:xfrm>
          <a:prstGeom prst="roundRect">
            <a:avLst>
              <a:gd name="adj" fmla="val 1667"/>
            </a:avLst>
          </a:prstGeom>
          <a:solidFill>
            <a:srgbClr val="EDF1F5"/>
          </a:solidFill>
          <a:ln/>
        </p:spPr>
      </p:sp>
      <p:sp>
        <p:nvSpPr>
          <p:cNvPr id="12" name="Text 10"/>
          <p:cNvSpPr txBox="1"/>
          <p:nvPr/>
        </p:nvSpPr>
        <p:spPr>
          <a:xfrm>
            <a:off x="7863840" y="1901952"/>
            <a:ext cx="3383280" cy="292608"/>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One image, three channels</a:t>
            </a:r>
            <a:endParaRPr lang="en-US" sz="1300" dirty="0"/>
          </a:p>
        </p:txBody>
      </p:sp>
      <p:sp>
        <p:nvSpPr>
          <p:cNvPr id="13" name="Shape 11"/>
          <p:cNvSpPr/>
          <p:nvPr/>
        </p:nvSpPr>
        <p:spPr>
          <a:xfrm>
            <a:off x="7863840" y="2423160"/>
            <a:ext cx="237744" cy="237744"/>
          </a:xfrm>
          <a:prstGeom prst="rect">
            <a:avLst/>
          </a:prstGeom>
          <a:solidFill>
            <a:srgbClr val="C0392B"/>
          </a:solidFill>
          <a:ln/>
        </p:spPr>
      </p:sp>
      <p:sp>
        <p:nvSpPr>
          <p:cNvPr id="14" name="Text 12"/>
          <p:cNvSpPr txBox="1"/>
          <p:nvPr/>
        </p:nvSpPr>
        <p:spPr>
          <a:xfrm>
            <a:off x="8229600" y="2377440"/>
            <a:ext cx="365760" cy="320040"/>
          </a:xfrm>
          <a:prstGeom prst="rect">
            <a:avLst/>
          </a:prstGeom>
          <a:noFill/>
          <a:ln/>
        </p:spPr>
        <p:txBody>
          <a:bodyPr wrap="square" lIns="0" tIns="0" rIns="0" bIns="0" rtlCol="0" anchor="ctr"/>
          <a:lstStyle/>
          <a:p>
            <a:pPr indent="0" marL="0">
              <a:buNone/>
            </a:pPr>
            <a:r>
              <a:rPr lang="en-US" sz="1600" b="1" dirty="0">
                <a:solidFill>
                  <a:srgbClr val="1B2A41"/>
                </a:solidFill>
                <a:latin typeface="Cambria" pitchFamily="34" charset="0"/>
                <a:ea typeface="Cambria" pitchFamily="34" charset="-122"/>
                <a:cs typeface="Cambria" pitchFamily="34" charset="-120"/>
              </a:rPr>
              <a:t>R</a:t>
            </a:r>
            <a:endParaRPr lang="en-US" sz="1600" dirty="0"/>
          </a:p>
        </p:txBody>
      </p:sp>
      <p:sp>
        <p:nvSpPr>
          <p:cNvPr id="15" name="Text 13"/>
          <p:cNvSpPr txBox="1"/>
          <p:nvPr/>
        </p:nvSpPr>
        <p:spPr>
          <a:xfrm>
            <a:off x="8641080" y="2377440"/>
            <a:ext cx="2606040" cy="685800"/>
          </a:xfrm>
          <a:prstGeom prst="rect">
            <a:avLst/>
          </a:prstGeom>
          <a:noFill/>
          <a:ln/>
        </p:spPr>
        <p:txBody>
          <a:bodyPr wrap="square" lIns="0" tIns="0" rIns="0" bIns="0" rtlCol="0" anchor="t"/>
          <a:lstStyle/>
          <a:p>
            <a:pPr indent="0" marL="0">
              <a:lnSpc>
                <a:spcPts val="1600"/>
              </a:lnSpc>
              <a:buNone/>
            </a:pPr>
            <a:r>
              <a:rPr lang="en-US" sz="1250" dirty="0">
                <a:solidFill>
                  <a:srgbClr val="1B2A41"/>
                </a:solidFill>
                <a:latin typeface="Calibri" pitchFamily="34" charset="0"/>
                <a:ea typeface="Calibri" pitchFamily="34" charset="-122"/>
                <a:cs typeface="Calibri" pitchFamily="34" charset="-120"/>
              </a:rPr>
              <a:t>API-call tile</a:t>
            </a:r>
            <a:endParaRPr lang="en-US" sz="1250" dirty="0"/>
          </a:p>
        </p:txBody>
      </p:sp>
      <p:sp>
        <p:nvSpPr>
          <p:cNvPr id="16" name="Shape 14"/>
          <p:cNvSpPr/>
          <p:nvPr/>
        </p:nvSpPr>
        <p:spPr>
          <a:xfrm>
            <a:off x="7863840" y="3200400"/>
            <a:ext cx="237744" cy="237744"/>
          </a:xfrm>
          <a:prstGeom prst="rect">
            <a:avLst/>
          </a:prstGeom>
          <a:solidFill>
            <a:srgbClr val="27AE60"/>
          </a:solidFill>
          <a:ln/>
        </p:spPr>
      </p:sp>
      <p:sp>
        <p:nvSpPr>
          <p:cNvPr id="17" name="Text 15"/>
          <p:cNvSpPr txBox="1"/>
          <p:nvPr/>
        </p:nvSpPr>
        <p:spPr>
          <a:xfrm>
            <a:off x="8229600" y="3154680"/>
            <a:ext cx="365760" cy="320040"/>
          </a:xfrm>
          <a:prstGeom prst="rect">
            <a:avLst/>
          </a:prstGeom>
          <a:noFill/>
          <a:ln/>
        </p:spPr>
        <p:txBody>
          <a:bodyPr wrap="square" lIns="0" tIns="0" rIns="0" bIns="0" rtlCol="0" anchor="ctr"/>
          <a:lstStyle/>
          <a:p>
            <a:pPr indent="0" marL="0">
              <a:buNone/>
            </a:pPr>
            <a:r>
              <a:rPr lang="en-US" sz="1600" b="1" dirty="0">
                <a:solidFill>
                  <a:srgbClr val="1B2A41"/>
                </a:solidFill>
                <a:latin typeface="Cambria" pitchFamily="34" charset="0"/>
                <a:ea typeface="Cambria" pitchFamily="34" charset="-122"/>
                <a:cs typeface="Cambria" pitchFamily="34" charset="-120"/>
              </a:rPr>
              <a:t>G</a:t>
            </a:r>
            <a:endParaRPr lang="en-US" sz="1600" dirty="0"/>
          </a:p>
        </p:txBody>
      </p:sp>
      <p:sp>
        <p:nvSpPr>
          <p:cNvPr id="18" name="Text 16"/>
          <p:cNvSpPr txBox="1"/>
          <p:nvPr/>
        </p:nvSpPr>
        <p:spPr>
          <a:xfrm>
            <a:off x="8641080" y="3154680"/>
            <a:ext cx="2606040" cy="685800"/>
          </a:xfrm>
          <a:prstGeom prst="rect">
            <a:avLst/>
          </a:prstGeom>
          <a:noFill/>
          <a:ln/>
        </p:spPr>
        <p:txBody>
          <a:bodyPr wrap="square" lIns="0" tIns="0" rIns="0" bIns="0" rtlCol="0" anchor="t"/>
          <a:lstStyle/>
          <a:p>
            <a:pPr indent="0" marL="0">
              <a:lnSpc>
                <a:spcPts val="1600"/>
              </a:lnSpc>
              <a:buNone/>
            </a:pPr>
            <a:r>
              <a:rPr lang="en-US" sz="1250" dirty="0">
                <a:solidFill>
                  <a:srgbClr val="1B2A41"/>
                </a:solidFill>
                <a:latin typeface="Calibri" pitchFamily="34" charset="0"/>
                <a:ea typeface="Calibri" pitchFamily="34" charset="-122"/>
                <a:cs typeface="Calibri" pitchFamily="34" charset="-120"/>
              </a:rPr>
              <a:t>network tile</a:t>
            </a:r>
            <a:endParaRPr lang="en-US" sz="1250" dirty="0"/>
          </a:p>
        </p:txBody>
      </p:sp>
      <p:sp>
        <p:nvSpPr>
          <p:cNvPr id="19" name="Shape 17"/>
          <p:cNvSpPr/>
          <p:nvPr/>
        </p:nvSpPr>
        <p:spPr>
          <a:xfrm>
            <a:off x="7863840" y="3977640"/>
            <a:ext cx="237744" cy="237744"/>
          </a:xfrm>
          <a:prstGeom prst="rect">
            <a:avLst/>
          </a:prstGeom>
          <a:solidFill>
            <a:srgbClr val="2E86DE"/>
          </a:solidFill>
          <a:ln/>
        </p:spPr>
      </p:sp>
      <p:sp>
        <p:nvSpPr>
          <p:cNvPr id="20" name="Text 18"/>
          <p:cNvSpPr txBox="1"/>
          <p:nvPr/>
        </p:nvSpPr>
        <p:spPr>
          <a:xfrm>
            <a:off x="8229600" y="3931920"/>
            <a:ext cx="365760" cy="320040"/>
          </a:xfrm>
          <a:prstGeom prst="rect">
            <a:avLst/>
          </a:prstGeom>
          <a:noFill/>
          <a:ln/>
        </p:spPr>
        <p:txBody>
          <a:bodyPr wrap="square" lIns="0" tIns="0" rIns="0" bIns="0" rtlCol="0" anchor="ctr"/>
          <a:lstStyle/>
          <a:p>
            <a:pPr indent="0" marL="0">
              <a:buNone/>
            </a:pPr>
            <a:r>
              <a:rPr lang="en-US" sz="1600" b="1" dirty="0">
                <a:solidFill>
                  <a:srgbClr val="1B2A41"/>
                </a:solidFill>
                <a:latin typeface="Cambria" pitchFamily="34" charset="0"/>
                <a:ea typeface="Cambria" pitchFamily="34" charset="-122"/>
                <a:cs typeface="Cambria" pitchFamily="34" charset="-120"/>
              </a:rPr>
              <a:t>B</a:t>
            </a:r>
            <a:endParaRPr lang="en-US" sz="1600" dirty="0"/>
          </a:p>
        </p:txBody>
      </p:sp>
      <p:sp>
        <p:nvSpPr>
          <p:cNvPr id="21" name="Text 19"/>
          <p:cNvSpPr txBox="1"/>
          <p:nvPr/>
        </p:nvSpPr>
        <p:spPr>
          <a:xfrm>
            <a:off x="8641080" y="3931920"/>
            <a:ext cx="2606040" cy="685800"/>
          </a:xfrm>
          <a:prstGeom prst="rect">
            <a:avLst/>
          </a:prstGeom>
          <a:noFill/>
          <a:ln/>
        </p:spPr>
        <p:txBody>
          <a:bodyPr wrap="square" lIns="0" tIns="0" rIns="0" bIns="0" rtlCol="0" anchor="t"/>
          <a:lstStyle/>
          <a:p>
            <a:pPr indent="0" marL="0">
              <a:lnSpc>
                <a:spcPts val="1600"/>
              </a:lnSpc>
              <a:buNone/>
            </a:pPr>
            <a:r>
              <a:rPr lang="en-US" sz="1250" dirty="0">
                <a:solidFill>
                  <a:srgbClr val="1B2A41"/>
                </a:solidFill>
                <a:latin typeface="Calibri" pitchFamily="34" charset="0"/>
                <a:ea typeface="Calibri" pitchFamily="34" charset="-122"/>
                <a:cs typeface="Calibri" pitchFamily="34" charset="-120"/>
              </a:rPr>
              <a:t>edge map of (R+G)/2,</a:t>
            </a:r>
            <a:endParaRPr lang="en-US" sz="1250" dirty="0"/>
          </a:p>
          <a:p>
            <a:pPr indent="0" marL="0">
              <a:lnSpc>
                <a:spcPts val="1600"/>
              </a:lnSpc>
              <a:buNone/>
            </a:pPr>
            <a:r>
              <a:rPr lang="en-US" sz="1250" dirty="0">
                <a:solidFill>
                  <a:srgbClr val="1B2A41"/>
                </a:solidFill>
                <a:latin typeface="Calibri" pitchFamily="34" charset="0"/>
                <a:ea typeface="Calibri" pitchFamily="34" charset="-122"/>
                <a:cs typeface="Calibri" pitchFamily="34" charset="-120"/>
              </a:rPr>
              <a:t>derived from the other two</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E86DE"/>
                </a:solidFill>
                <a:latin typeface="Calibri" pitchFamily="34" charset="0"/>
                <a:ea typeface="Calibri" pitchFamily="34" charset="-122"/>
                <a:cs typeface="Calibri" pitchFamily="34" charset="-120"/>
              </a:rPr>
              <a:t>INTRODUCTION   ·   2 of 3</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Most FL backdoor work looks past the channels</a:t>
            </a:r>
            <a:endParaRPr lang="en-US" sz="3000" dirty="0"/>
          </a:p>
        </p:txBody>
      </p:sp>
      <p:sp>
        <p:nvSpPr>
          <p:cNvPr id="4" name="Shape 2"/>
          <p:cNvSpPr/>
          <p:nvPr/>
        </p:nvSpPr>
        <p:spPr>
          <a:xfrm>
            <a:off x="10506456" y="6291072"/>
            <a:ext cx="137160" cy="137160"/>
          </a:xfrm>
          <a:prstGeom prst="rect">
            <a:avLst/>
          </a:prstGeom>
          <a:solidFill>
            <a:srgbClr val="2E86DE"/>
          </a:solidFill>
          <a:ln/>
        </p:spPr>
      </p:sp>
      <p:sp>
        <p:nvSpPr>
          <p:cNvPr id="5" name="Shape 3"/>
          <p:cNvSpPr/>
          <p:nvPr/>
        </p:nvSpPr>
        <p:spPr>
          <a:xfrm>
            <a:off x="10725912" y="6291072"/>
            <a:ext cx="137160" cy="137160"/>
          </a:xfrm>
          <a:prstGeom prst="rect">
            <a:avLst/>
          </a:prstGeom>
          <a:solidFill>
            <a:srgbClr val="D3DCE4"/>
          </a:solidFill>
          <a:ln/>
        </p:spPr>
      </p:sp>
      <p:sp>
        <p:nvSpPr>
          <p:cNvPr id="6" name="Shape 4"/>
          <p:cNvSpPr/>
          <p:nvPr/>
        </p:nvSpPr>
        <p:spPr>
          <a:xfrm>
            <a:off x="10945368" y="6291072"/>
            <a:ext cx="137160" cy="137160"/>
          </a:xfrm>
          <a:prstGeom prst="rect">
            <a:avLst/>
          </a:prstGeom>
          <a:solidFill>
            <a:srgbClr val="D3DCE4"/>
          </a:solidFill>
          <a:ln/>
        </p:spPr>
      </p:sp>
      <p:sp>
        <p:nvSpPr>
          <p:cNvPr id="7" name="Shape 5"/>
          <p:cNvSpPr/>
          <p:nvPr/>
        </p:nvSpPr>
        <p:spPr>
          <a:xfrm>
            <a:off x="11164824" y="6291072"/>
            <a:ext cx="137160" cy="137160"/>
          </a:xfrm>
          <a:prstGeom prst="rect">
            <a:avLst/>
          </a:prstGeom>
          <a:solidFill>
            <a:srgbClr val="D3DCE4"/>
          </a:solidFill>
          <a:ln/>
        </p:spPr>
      </p:sp>
      <p:sp>
        <p:nvSpPr>
          <p:cNvPr id="8" name="Shape 6"/>
          <p:cNvSpPr/>
          <p:nvPr/>
        </p:nvSpPr>
        <p:spPr>
          <a:xfrm>
            <a:off x="11384280" y="6291072"/>
            <a:ext cx="137160" cy="137160"/>
          </a:xfrm>
          <a:prstGeom prst="rect">
            <a:avLst/>
          </a:prstGeom>
          <a:solidFill>
            <a:srgbClr val="D3DCE4"/>
          </a:solidFill>
          <a:ln/>
        </p:spPr>
      </p:sp>
      <p:sp>
        <p:nvSpPr>
          <p:cNvPr id="9" name="Shape 7"/>
          <p:cNvSpPr/>
          <p:nvPr/>
        </p:nvSpPr>
        <p:spPr>
          <a:xfrm>
            <a:off x="640080" y="1783080"/>
            <a:ext cx="10881360" cy="1005840"/>
          </a:xfrm>
          <a:prstGeom prst="roundRect">
            <a:avLst>
              <a:gd name="adj" fmla="val 5455"/>
            </a:avLst>
          </a:prstGeom>
          <a:solidFill>
            <a:srgbClr val="EDF1F5"/>
          </a:solidFill>
          <a:ln/>
        </p:spPr>
      </p:sp>
      <p:sp>
        <p:nvSpPr>
          <p:cNvPr id="10" name="Shape 8"/>
          <p:cNvSpPr/>
          <p:nvPr/>
        </p:nvSpPr>
        <p:spPr>
          <a:xfrm>
            <a:off x="914400" y="1956816"/>
            <a:ext cx="219456" cy="219456"/>
          </a:xfrm>
          <a:prstGeom prst="rect">
            <a:avLst/>
          </a:prstGeom>
          <a:solidFill>
            <a:srgbClr val="AAB7C4"/>
          </a:solidFill>
          <a:ln/>
        </p:spPr>
      </p:sp>
      <p:sp>
        <p:nvSpPr>
          <p:cNvPr id="11" name="Text 9"/>
          <p:cNvSpPr txBox="1"/>
          <p:nvPr/>
        </p:nvSpPr>
        <p:spPr>
          <a:xfrm>
            <a:off x="1325880" y="1947672"/>
            <a:ext cx="2834640" cy="731520"/>
          </a:xfrm>
          <a:prstGeom prst="rect">
            <a:avLst/>
          </a:prstGeom>
          <a:noFill/>
          <a:ln/>
        </p:spPr>
        <p:txBody>
          <a:bodyPr wrap="square" lIns="0" tIns="0" rIns="0" bIns="0" rtlCol="0" anchor="t"/>
          <a:lstStyle/>
          <a:p>
            <a:pPr indent="0" marL="0">
              <a:buNone/>
            </a:pPr>
            <a:r>
              <a:rPr lang="en-US" sz="1450" b="1" dirty="0">
                <a:solidFill>
                  <a:srgbClr val="1B2A41"/>
                </a:solidFill>
                <a:latin typeface="Calibri" pitchFamily="34" charset="0"/>
                <a:ea typeface="Calibri" pitchFamily="34" charset="-122"/>
                <a:cs typeface="Calibri" pitchFamily="34" charset="-120"/>
              </a:rPr>
              <a:t>Prior FL backdoor work</a:t>
            </a:r>
            <a:endParaRPr lang="en-US" sz="1450" dirty="0"/>
          </a:p>
        </p:txBody>
      </p:sp>
      <p:sp>
        <p:nvSpPr>
          <p:cNvPr id="12" name="Text 10"/>
          <p:cNvSpPr txBox="1"/>
          <p:nvPr/>
        </p:nvSpPr>
        <p:spPr>
          <a:xfrm>
            <a:off x="4389120" y="1947672"/>
            <a:ext cx="6903720" cy="731520"/>
          </a:xfrm>
          <a:prstGeom prst="rect">
            <a:avLst/>
          </a:prstGeom>
          <a:noFill/>
          <a:ln/>
        </p:spPr>
        <p:txBody>
          <a:bodyPr wrap="square" lIns="0" tIns="0" rIns="0" bIns="0" rtlCol="0" anchor="t"/>
          <a:lstStyle/>
          <a:p>
            <a:pPr indent="0" marL="0">
              <a:lnSpc>
                <a:spcPts val="1800"/>
              </a:lnSpc>
              <a:buNone/>
            </a:pPr>
            <a:r>
              <a:rPr lang="en-US" sz="1350" dirty="0">
                <a:solidFill>
                  <a:srgbClr val="1B2A41"/>
                </a:solidFill>
                <a:latin typeface="Calibri" pitchFamily="34" charset="0"/>
                <a:ea typeface="Calibri" pitchFamily="34" charset="-122"/>
                <a:cs typeface="Calibri" pitchFamily="34" charset="-120"/>
              </a:rPr>
              <a:t>targets general image tasks or model-level poisoning, not channel-specific behavior in malware representations</a:t>
            </a:r>
            <a:endParaRPr lang="en-US" sz="1350" dirty="0"/>
          </a:p>
        </p:txBody>
      </p:sp>
      <p:sp>
        <p:nvSpPr>
          <p:cNvPr id="13" name="Shape 11"/>
          <p:cNvSpPr/>
          <p:nvPr/>
        </p:nvSpPr>
        <p:spPr>
          <a:xfrm>
            <a:off x="640080" y="2990088"/>
            <a:ext cx="10881360" cy="1005840"/>
          </a:xfrm>
          <a:prstGeom prst="roundRect">
            <a:avLst>
              <a:gd name="adj" fmla="val 5455"/>
            </a:avLst>
          </a:prstGeom>
          <a:solidFill>
            <a:srgbClr val="EDF1F5"/>
          </a:solidFill>
          <a:ln/>
        </p:spPr>
      </p:sp>
      <p:sp>
        <p:nvSpPr>
          <p:cNvPr id="14" name="Shape 12"/>
          <p:cNvSpPr/>
          <p:nvPr/>
        </p:nvSpPr>
        <p:spPr>
          <a:xfrm>
            <a:off x="914400" y="3163824"/>
            <a:ext cx="219456" cy="219456"/>
          </a:xfrm>
          <a:prstGeom prst="rect">
            <a:avLst/>
          </a:prstGeom>
          <a:solidFill>
            <a:srgbClr val="AAB7C4"/>
          </a:solidFill>
          <a:ln/>
        </p:spPr>
      </p:sp>
      <p:sp>
        <p:nvSpPr>
          <p:cNvPr id="15" name="Text 13"/>
          <p:cNvSpPr txBox="1"/>
          <p:nvPr/>
        </p:nvSpPr>
        <p:spPr>
          <a:xfrm>
            <a:off x="1325880" y="3154680"/>
            <a:ext cx="2834640" cy="731520"/>
          </a:xfrm>
          <a:prstGeom prst="rect">
            <a:avLst/>
          </a:prstGeom>
          <a:noFill/>
          <a:ln/>
        </p:spPr>
        <p:txBody>
          <a:bodyPr wrap="square" lIns="0" tIns="0" rIns="0" bIns="0" rtlCol="0" anchor="t"/>
          <a:lstStyle/>
          <a:p>
            <a:pPr indent="0" marL="0">
              <a:buNone/>
            </a:pPr>
            <a:r>
              <a:rPr lang="en-US" sz="1450" b="1" dirty="0">
                <a:solidFill>
                  <a:srgbClr val="1B2A41"/>
                </a:solidFill>
                <a:latin typeface="Calibri" pitchFamily="34" charset="0"/>
                <a:ea typeface="Calibri" pitchFamily="34" charset="-122"/>
                <a:cs typeface="Calibri" pitchFamily="34" charset="-120"/>
              </a:rPr>
              <a:t>Malware backdoor work</a:t>
            </a:r>
            <a:endParaRPr lang="en-US" sz="1450" dirty="0"/>
          </a:p>
        </p:txBody>
      </p:sp>
      <p:sp>
        <p:nvSpPr>
          <p:cNvPr id="16" name="Text 14"/>
          <p:cNvSpPr txBox="1"/>
          <p:nvPr/>
        </p:nvSpPr>
        <p:spPr>
          <a:xfrm>
            <a:off x="4389120" y="3154680"/>
            <a:ext cx="6903720" cy="731520"/>
          </a:xfrm>
          <a:prstGeom prst="rect">
            <a:avLst/>
          </a:prstGeom>
          <a:noFill/>
          <a:ln/>
        </p:spPr>
        <p:txBody>
          <a:bodyPr wrap="square" lIns="0" tIns="0" rIns="0" bIns="0" rtlCol="0" anchor="t"/>
          <a:lstStyle/>
          <a:p>
            <a:pPr indent="0" marL="0">
              <a:lnSpc>
                <a:spcPts val="1800"/>
              </a:lnSpc>
              <a:buNone/>
            </a:pPr>
            <a:r>
              <a:rPr lang="en-US" sz="1350" dirty="0">
                <a:solidFill>
                  <a:srgbClr val="1B2A41"/>
                </a:solidFill>
                <a:latin typeface="Calibri" pitchFamily="34" charset="0"/>
                <a:ea typeface="Calibri" pitchFamily="34" charset="-122"/>
                <a:cs typeface="Calibri" pitchFamily="34" charset="-120"/>
              </a:rPr>
              <a:t>explanation-guided and family-selective triggers on static features of a centralized classifier</a:t>
            </a:r>
            <a:endParaRPr lang="en-US" sz="1350" dirty="0"/>
          </a:p>
        </p:txBody>
      </p:sp>
      <p:sp>
        <p:nvSpPr>
          <p:cNvPr id="17" name="Shape 15"/>
          <p:cNvSpPr/>
          <p:nvPr/>
        </p:nvSpPr>
        <p:spPr>
          <a:xfrm>
            <a:off x="640080" y="4197096"/>
            <a:ext cx="10881360" cy="1005840"/>
          </a:xfrm>
          <a:prstGeom prst="roundRect">
            <a:avLst>
              <a:gd name="adj" fmla="val 5455"/>
            </a:avLst>
          </a:prstGeom>
          <a:solidFill>
            <a:srgbClr val="E8F1FC"/>
          </a:solidFill>
          <a:ln/>
        </p:spPr>
      </p:sp>
      <p:sp>
        <p:nvSpPr>
          <p:cNvPr id="18" name="Shape 16"/>
          <p:cNvSpPr/>
          <p:nvPr/>
        </p:nvSpPr>
        <p:spPr>
          <a:xfrm>
            <a:off x="914400" y="4370832"/>
            <a:ext cx="219456" cy="219456"/>
          </a:xfrm>
          <a:prstGeom prst="rect">
            <a:avLst/>
          </a:prstGeom>
          <a:solidFill>
            <a:srgbClr val="2E86DE"/>
          </a:solidFill>
          <a:ln/>
        </p:spPr>
      </p:sp>
      <p:sp>
        <p:nvSpPr>
          <p:cNvPr id="19" name="Text 17"/>
          <p:cNvSpPr txBox="1"/>
          <p:nvPr/>
        </p:nvSpPr>
        <p:spPr>
          <a:xfrm>
            <a:off x="1325880" y="4361688"/>
            <a:ext cx="2834640" cy="731520"/>
          </a:xfrm>
          <a:prstGeom prst="rect">
            <a:avLst/>
          </a:prstGeom>
          <a:noFill/>
          <a:ln/>
        </p:spPr>
        <p:txBody>
          <a:bodyPr wrap="square" lIns="0" tIns="0" rIns="0" bIns="0" rtlCol="0" anchor="t"/>
          <a:lstStyle/>
          <a:p>
            <a:pPr indent="0" marL="0">
              <a:buNone/>
            </a:pPr>
            <a:r>
              <a:rPr lang="en-US" sz="1450" b="1" dirty="0">
                <a:solidFill>
                  <a:srgbClr val="2E86DE"/>
                </a:solidFill>
                <a:latin typeface="Calibri" pitchFamily="34" charset="0"/>
                <a:ea typeface="Calibri" pitchFamily="34" charset="-122"/>
                <a:cs typeface="Calibri" pitchFamily="34" charset="-120"/>
              </a:rPr>
              <a:t>This work</a:t>
            </a:r>
            <a:endParaRPr lang="en-US" sz="1450" dirty="0"/>
          </a:p>
        </p:txBody>
      </p:sp>
      <p:sp>
        <p:nvSpPr>
          <p:cNvPr id="20" name="Text 18"/>
          <p:cNvSpPr txBox="1"/>
          <p:nvPr/>
        </p:nvSpPr>
        <p:spPr>
          <a:xfrm>
            <a:off x="4389120" y="4361688"/>
            <a:ext cx="6903720" cy="731520"/>
          </a:xfrm>
          <a:prstGeom prst="rect">
            <a:avLst/>
          </a:prstGeom>
          <a:noFill/>
          <a:ln/>
        </p:spPr>
        <p:txBody>
          <a:bodyPr wrap="square" lIns="0" tIns="0" rIns="0" bIns="0" rtlCol="0" anchor="t"/>
          <a:lstStyle/>
          <a:p>
            <a:pPr indent="0" marL="0">
              <a:lnSpc>
                <a:spcPts val="1800"/>
              </a:lnSpc>
              <a:buNone/>
            </a:pPr>
            <a:r>
              <a:rPr lang="en-US" sz="1350" dirty="0">
                <a:solidFill>
                  <a:srgbClr val="1B2A41"/>
                </a:solidFill>
                <a:latin typeface="Calibri" pitchFamily="34" charset="0"/>
                <a:ea typeface="Calibri" pitchFamily="34" charset="-122"/>
                <a:cs typeface="Calibri" pitchFamily="34" charset="-120"/>
              </a:rPr>
              <a:t>attacks a federated model through the channels of a dynamic-behavior image, a setting that remains underexplored</a:t>
            </a:r>
            <a:endParaRPr lang="en-US" sz="1350" dirty="0"/>
          </a:p>
        </p:txBody>
      </p:sp>
      <p:sp>
        <p:nvSpPr>
          <p:cNvPr id="21" name="Text 19"/>
          <p:cNvSpPr txBox="1"/>
          <p:nvPr/>
        </p:nvSpPr>
        <p:spPr>
          <a:xfrm>
            <a:off x="640080" y="5532120"/>
            <a:ext cx="10881360" cy="640080"/>
          </a:xfrm>
          <a:prstGeom prst="rect">
            <a:avLst/>
          </a:prstGeom>
          <a:noFill/>
          <a:ln/>
        </p:spPr>
        <p:txBody>
          <a:bodyPr wrap="square" lIns="0" tIns="0" rIns="0" bIns="0" rtlCol="0" anchor="t"/>
          <a:lstStyle/>
          <a:p>
            <a:pPr indent="0" marL="0">
              <a:lnSpc>
                <a:spcPts val="1700"/>
              </a:lnSpc>
              <a:buNone/>
            </a:pPr>
            <a:r>
              <a:rPr lang="en-US" sz="1250" i="1" dirty="0">
                <a:solidFill>
                  <a:srgbClr val="5A6B7C"/>
                </a:solidFill>
                <a:latin typeface="Calibri" pitchFamily="34" charset="0"/>
                <a:ea typeface="Calibri" pitchFamily="34" charset="-122"/>
                <a:cs typeface="Calibri" pitchFamily="34" charset="-120"/>
              </a:rPr>
              <a:t>An RGB-stack puts API-call, network and fused information in separate channels, so a trigger in one channel need not behave like a trigger in another.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E86DE"/>
                </a:solidFill>
                <a:latin typeface="Calibri" pitchFamily="34" charset="0"/>
                <a:ea typeface="Calibri" pitchFamily="34" charset="-122"/>
                <a:cs typeface="Calibri" pitchFamily="34" charset="-120"/>
              </a:rPr>
              <a:t>INTRODUCTION   ·   3 of 3</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We treat the channels as the attack surface</a:t>
            </a:r>
            <a:endParaRPr lang="en-US" sz="3000" dirty="0"/>
          </a:p>
        </p:txBody>
      </p:sp>
      <p:sp>
        <p:nvSpPr>
          <p:cNvPr id="4" name="Shape 2"/>
          <p:cNvSpPr/>
          <p:nvPr/>
        </p:nvSpPr>
        <p:spPr>
          <a:xfrm>
            <a:off x="10506456" y="6291072"/>
            <a:ext cx="137160" cy="137160"/>
          </a:xfrm>
          <a:prstGeom prst="rect">
            <a:avLst/>
          </a:prstGeom>
          <a:solidFill>
            <a:srgbClr val="2E86DE"/>
          </a:solidFill>
          <a:ln/>
        </p:spPr>
      </p:sp>
      <p:sp>
        <p:nvSpPr>
          <p:cNvPr id="5" name="Shape 3"/>
          <p:cNvSpPr/>
          <p:nvPr/>
        </p:nvSpPr>
        <p:spPr>
          <a:xfrm>
            <a:off x="10725912" y="6291072"/>
            <a:ext cx="137160" cy="137160"/>
          </a:xfrm>
          <a:prstGeom prst="rect">
            <a:avLst/>
          </a:prstGeom>
          <a:solidFill>
            <a:srgbClr val="D3DCE4"/>
          </a:solidFill>
          <a:ln/>
        </p:spPr>
      </p:sp>
      <p:sp>
        <p:nvSpPr>
          <p:cNvPr id="6" name="Shape 4"/>
          <p:cNvSpPr/>
          <p:nvPr/>
        </p:nvSpPr>
        <p:spPr>
          <a:xfrm>
            <a:off x="10945368" y="6291072"/>
            <a:ext cx="137160" cy="137160"/>
          </a:xfrm>
          <a:prstGeom prst="rect">
            <a:avLst/>
          </a:prstGeom>
          <a:solidFill>
            <a:srgbClr val="D3DCE4"/>
          </a:solidFill>
          <a:ln/>
        </p:spPr>
      </p:sp>
      <p:sp>
        <p:nvSpPr>
          <p:cNvPr id="7" name="Shape 5"/>
          <p:cNvSpPr/>
          <p:nvPr/>
        </p:nvSpPr>
        <p:spPr>
          <a:xfrm>
            <a:off x="11164824" y="6291072"/>
            <a:ext cx="137160" cy="137160"/>
          </a:xfrm>
          <a:prstGeom prst="rect">
            <a:avLst/>
          </a:prstGeom>
          <a:solidFill>
            <a:srgbClr val="D3DCE4"/>
          </a:solidFill>
          <a:ln/>
        </p:spPr>
      </p:sp>
      <p:sp>
        <p:nvSpPr>
          <p:cNvPr id="8" name="Shape 6"/>
          <p:cNvSpPr/>
          <p:nvPr/>
        </p:nvSpPr>
        <p:spPr>
          <a:xfrm>
            <a:off x="11384280" y="6291072"/>
            <a:ext cx="137160" cy="137160"/>
          </a:xfrm>
          <a:prstGeom prst="rect">
            <a:avLst/>
          </a:prstGeom>
          <a:solidFill>
            <a:srgbClr val="D3DCE4"/>
          </a:solidFill>
          <a:ln/>
        </p:spPr>
      </p:sp>
      <p:sp>
        <p:nvSpPr>
          <p:cNvPr id="9" name="Text 7"/>
          <p:cNvSpPr txBox="1"/>
          <p:nvPr/>
        </p:nvSpPr>
        <p:spPr>
          <a:xfrm>
            <a:off x="640080" y="1783080"/>
            <a:ext cx="411480" cy="411480"/>
          </a:xfrm>
          <a:prstGeom prst="rect">
            <a:avLst/>
          </a:prstGeom>
          <a:noFill/>
          <a:ln/>
        </p:spPr>
        <p:txBody>
          <a:bodyPr wrap="square" lIns="0" tIns="0" rIns="0" bIns="0" rtlCol="0" anchor="ctr"/>
          <a:lstStyle/>
          <a:p>
            <a:pPr indent="0" marL="0">
              <a:buNone/>
            </a:pPr>
            <a:r>
              <a:rPr lang="en-US" sz="2200" b="1" dirty="0">
                <a:solidFill>
                  <a:srgbClr val="2E86DE"/>
                </a:solidFill>
                <a:latin typeface="Cambria" pitchFamily="34" charset="0"/>
                <a:ea typeface="Cambria" pitchFamily="34" charset="-122"/>
                <a:cs typeface="Cambria" pitchFamily="34" charset="-120"/>
              </a:rPr>
              <a:t>1</a:t>
            </a:r>
            <a:endParaRPr lang="en-US" sz="2200" dirty="0"/>
          </a:p>
        </p:txBody>
      </p:sp>
      <p:sp>
        <p:nvSpPr>
          <p:cNvPr id="10" name="Text 8"/>
          <p:cNvSpPr txBox="1"/>
          <p:nvPr/>
        </p:nvSpPr>
        <p:spPr>
          <a:xfrm>
            <a:off x="1143000" y="1819656"/>
            <a:ext cx="6675120" cy="777240"/>
          </a:xfrm>
          <a:prstGeom prst="rect">
            <a:avLst/>
          </a:prstGeom>
          <a:noFill/>
          <a:ln/>
        </p:spPr>
        <p:txBody>
          <a:bodyPr wrap="square" lIns="0" tIns="0" rIns="0" bIns="0" rtlCol="0" anchor="t"/>
          <a:lstStyle/>
          <a:p>
            <a:pPr indent="0" marL="0">
              <a:lnSpc>
                <a:spcPts val="1900"/>
              </a:lnSpc>
              <a:buNone/>
            </a:pPr>
            <a:r>
              <a:rPr lang="en-US" sz="1400" dirty="0">
                <a:solidFill>
                  <a:srgbClr val="1B2A41"/>
                </a:solidFill>
                <a:latin typeface="Calibri" pitchFamily="34" charset="0"/>
                <a:ea typeface="Calibri" pitchFamily="34" charset="-122"/>
                <a:cs typeface="Calibri" pitchFamily="34" charset="-120"/>
              </a:rPr>
              <a:t>Build dynamic API-call and network representations from Cuckoo Sandbox reports for five Windows infostealer families.</a:t>
            </a:r>
            <a:endParaRPr lang="en-US" sz="1400" dirty="0"/>
          </a:p>
        </p:txBody>
      </p:sp>
      <p:sp>
        <p:nvSpPr>
          <p:cNvPr id="11" name="Text 9"/>
          <p:cNvSpPr txBox="1"/>
          <p:nvPr/>
        </p:nvSpPr>
        <p:spPr>
          <a:xfrm>
            <a:off x="640080" y="2697480"/>
            <a:ext cx="411480" cy="411480"/>
          </a:xfrm>
          <a:prstGeom prst="rect">
            <a:avLst/>
          </a:prstGeom>
          <a:noFill/>
          <a:ln/>
        </p:spPr>
        <p:txBody>
          <a:bodyPr wrap="square" lIns="0" tIns="0" rIns="0" bIns="0" rtlCol="0" anchor="ctr"/>
          <a:lstStyle/>
          <a:p>
            <a:pPr indent="0" marL="0">
              <a:buNone/>
            </a:pPr>
            <a:r>
              <a:rPr lang="en-US" sz="2200" b="1" dirty="0">
                <a:solidFill>
                  <a:srgbClr val="2E86DE"/>
                </a:solidFill>
                <a:latin typeface="Cambria" pitchFamily="34" charset="0"/>
                <a:ea typeface="Cambria" pitchFamily="34" charset="-122"/>
                <a:cs typeface="Cambria" pitchFamily="34" charset="-120"/>
              </a:rPr>
              <a:t>2</a:t>
            </a:r>
            <a:endParaRPr lang="en-US" sz="2200" dirty="0"/>
          </a:p>
        </p:txBody>
      </p:sp>
      <p:sp>
        <p:nvSpPr>
          <p:cNvPr id="12" name="Text 10"/>
          <p:cNvSpPr txBox="1"/>
          <p:nvPr/>
        </p:nvSpPr>
        <p:spPr>
          <a:xfrm>
            <a:off x="1143000" y="2734056"/>
            <a:ext cx="6675120" cy="777240"/>
          </a:xfrm>
          <a:prstGeom prst="rect">
            <a:avLst/>
          </a:prstGeom>
          <a:noFill/>
          <a:ln/>
        </p:spPr>
        <p:txBody>
          <a:bodyPr wrap="square" lIns="0" tIns="0" rIns="0" bIns="0" rtlCol="0" anchor="t"/>
          <a:lstStyle/>
          <a:p>
            <a:pPr indent="0" marL="0">
              <a:lnSpc>
                <a:spcPts val="1900"/>
              </a:lnSpc>
              <a:buNone/>
            </a:pPr>
            <a:r>
              <a:rPr lang="en-US" sz="1400" dirty="0">
                <a:solidFill>
                  <a:srgbClr val="1B2A41"/>
                </a:solidFill>
                <a:latin typeface="Calibri" pitchFamily="34" charset="0"/>
                <a:ea typeface="Calibri" pitchFamily="34" charset="-122"/>
                <a:cs typeface="Calibri" pitchFamily="34" charset="-120"/>
              </a:rPr>
              <a:t>Select the representation and backbone: RGB-stack for its explicit channel separation, then the strongest backbone within it.</a:t>
            </a:r>
            <a:endParaRPr lang="en-US" sz="1400" dirty="0"/>
          </a:p>
        </p:txBody>
      </p:sp>
      <p:sp>
        <p:nvSpPr>
          <p:cNvPr id="13" name="Text 11"/>
          <p:cNvSpPr txBox="1"/>
          <p:nvPr/>
        </p:nvSpPr>
        <p:spPr>
          <a:xfrm>
            <a:off x="640080" y="3611880"/>
            <a:ext cx="411480" cy="411480"/>
          </a:xfrm>
          <a:prstGeom prst="rect">
            <a:avLst/>
          </a:prstGeom>
          <a:noFill/>
          <a:ln/>
        </p:spPr>
        <p:txBody>
          <a:bodyPr wrap="square" lIns="0" tIns="0" rIns="0" bIns="0" rtlCol="0" anchor="ctr"/>
          <a:lstStyle/>
          <a:p>
            <a:pPr indent="0" marL="0">
              <a:buNone/>
            </a:pPr>
            <a:r>
              <a:rPr lang="en-US" sz="2200" b="1" dirty="0">
                <a:solidFill>
                  <a:srgbClr val="2E86DE"/>
                </a:solidFill>
                <a:latin typeface="Cambria" pitchFamily="34" charset="0"/>
                <a:ea typeface="Cambria" pitchFamily="34" charset="-122"/>
                <a:cs typeface="Cambria" pitchFamily="34" charset="-120"/>
              </a:rPr>
              <a:t>3</a:t>
            </a:r>
            <a:endParaRPr lang="en-US" sz="2200" dirty="0"/>
          </a:p>
        </p:txBody>
      </p:sp>
      <p:sp>
        <p:nvSpPr>
          <p:cNvPr id="14" name="Text 12"/>
          <p:cNvSpPr txBox="1"/>
          <p:nvPr/>
        </p:nvSpPr>
        <p:spPr>
          <a:xfrm>
            <a:off x="1143000" y="3648456"/>
            <a:ext cx="6675120" cy="777240"/>
          </a:xfrm>
          <a:prstGeom prst="rect">
            <a:avLst/>
          </a:prstGeom>
          <a:noFill/>
          <a:ln/>
        </p:spPr>
        <p:txBody>
          <a:bodyPr wrap="square" lIns="0" tIns="0" rIns="0" bIns="0" rtlCol="0" anchor="t"/>
          <a:lstStyle/>
          <a:p>
            <a:pPr indent="0" marL="0">
              <a:lnSpc>
                <a:spcPts val="1900"/>
              </a:lnSpc>
              <a:buNone/>
            </a:pPr>
            <a:r>
              <a:rPr lang="en-US" sz="1400" dirty="0">
                <a:solidFill>
                  <a:srgbClr val="1B2A41"/>
                </a:solidFill>
                <a:latin typeface="Calibri" pitchFamily="34" charset="0"/>
                <a:ea typeface="Calibri" pitchFamily="34" charset="-122"/>
                <a:cs typeface="Calibri" pitchFamily="34" charset="-120"/>
              </a:rPr>
              <a:t>Evaluate red/API, green/network, blue/fusion and full-RGB triggers, with trigger controls and a Multi-Krum defense analysis.</a:t>
            </a:r>
            <a:endParaRPr lang="en-US" sz="1400" dirty="0"/>
          </a:p>
        </p:txBody>
      </p:sp>
      <p:sp>
        <p:nvSpPr>
          <p:cNvPr id="15" name="Shape 13"/>
          <p:cNvSpPr/>
          <p:nvPr/>
        </p:nvSpPr>
        <p:spPr>
          <a:xfrm>
            <a:off x="7955280" y="1737360"/>
            <a:ext cx="3566160" cy="2926080"/>
          </a:xfrm>
          <a:prstGeom prst="roundRect">
            <a:avLst>
              <a:gd name="adj" fmla="val 1875"/>
            </a:avLst>
          </a:prstGeom>
          <a:solidFill>
            <a:srgbClr val="E8F1FC"/>
          </a:solidFill>
          <a:ln/>
        </p:spPr>
      </p:sp>
      <p:sp>
        <p:nvSpPr>
          <p:cNvPr id="16" name="Text 14"/>
          <p:cNvSpPr txBox="1"/>
          <p:nvPr/>
        </p:nvSpPr>
        <p:spPr>
          <a:xfrm>
            <a:off x="8229600" y="1920240"/>
            <a:ext cx="3017520" cy="274320"/>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The finding</a:t>
            </a:r>
            <a:endParaRPr lang="en-US" sz="1250" dirty="0"/>
          </a:p>
        </p:txBody>
      </p:sp>
      <p:sp>
        <p:nvSpPr>
          <p:cNvPr id="17" name="Text 15"/>
          <p:cNvSpPr txBox="1"/>
          <p:nvPr/>
        </p:nvSpPr>
        <p:spPr>
          <a:xfrm>
            <a:off x="8229600" y="2240280"/>
            <a:ext cx="3017520" cy="603504"/>
          </a:xfrm>
          <a:prstGeom prst="rect">
            <a:avLst/>
          </a:prstGeom>
          <a:noFill/>
          <a:ln/>
        </p:spPr>
        <p:txBody>
          <a:bodyPr wrap="square" lIns="0" tIns="0" rIns="0" bIns="0" rtlCol="0" anchor="ctr"/>
          <a:lstStyle/>
          <a:p>
            <a:pPr indent="0" marL="0">
              <a:buNone/>
            </a:pPr>
            <a:r>
              <a:rPr lang="en-US" sz="3600" b="1" dirty="0">
                <a:solidFill>
                  <a:srgbClr val="2E86DE"/>
                </a:solidFill>
                <a:latin typeface="Cambria" pitchFamily="34" charset="0"/>
                <a:ea typeface="Cambria" pitchFamily="34" charset="-122"/>
                <a:cs typeface="Cambria" pitchFamily="34" charset="-120"/>
              </a:rPr>
              <a:t>15/15</a:t>
            </a:r>
            <a:endParaRPr lang="en-US" sz="3600" dirty="0"/>
          </a:p>
        </p:txBody>
      </p:sp>
      <p:sp>
        <p:nvSpPr>
          <p:cNvPr id="18" name="Text 16"/>
          <p:cNvSpPr txBox="1"/>
          <p:nvPr/>
        </p:nvSpPr>
        <p:spPr>
          <a:xfrm>
            <a:off x="8229600" y="2862072"/>
            <a:ext cx="3017520" cy="822960"/>
          </a:xfrm>
          <a:prstGeom prst="rect">
            <a:avLst/>
          </a:prstGeom>
          <a:noFill/>
          <a:ln/>
        </p:spPr>
        <p:txBody>
          <a:bodyPr wrap="square" lIns="0" tIns="0" rIns="0" bIns="0" rtlCol="0" anchor="t"/>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attack success on every seed, for a trigger in the fusion channel alone and for one spanning all three</a:t>
            </a:r>
            <a:endParaRPr lang="en-US" sz="1150" dirty="0"/>
          </a:p>
        </p:txBody>
      </p:sp>
      <p:sp>
        <p:nvSpPr>
          <p:cNvPr id="19" name="Text 17"/>
          <p:cNvSpPr txBox="1"/>
          <p:nvPr/>
        </p:nvSpPr>
        <p:spPr>
          <a:xfrm>
            <a:off x="8229600" y="3931920"/>
            <a:ext cx="3017520" cy="594360"/>
          </a:xfrm>
          <a:prstGeom prst="rect">
            <a:avLst/>
          </a:prstGeom>
          <a:noFill/>
          <a:ln/>
        </p:spPr>
        <p:txBody>
          <a:bodyPr wrap="square" lIns="0" tIns="0" rIns="0" bIns="0" rtlCol="0" anchor="t"/>
          <a:lstStyle/>
          <a:p>
            <a:pPr indent="0" marL="0">
              <a:lnSpc>
                <a:spcPts val="1500"/>
              </a:lnSpc>
              <a:buNone/>
            </a:pPr>
            <a:r>
              <a:rPr lang="en-US" sz="1150" i="1" dirty="0">
                <a:solidFill>
                  <a:srgbClr val="5A6B7C"/>
                </a:solidFill>
                <a:latin typeface="Calibri" pitchFamily="34" charset="0"/>
                <a:ea typeface="Calibri" pitchFamily="34" charset="-122"/>
                <a:cs typeface="Calibri" pitchFamily="34" charset="-120"/>
              </a:rPr>
              <a:t>Attack success rate: AgentTesla test images predicted FormBook.</a:t>
            </a:r>
            <a:endParaRPr lang="en-US" sz="1150" dirty="0"/>
          </a:p>
        </p:txBody>
      </p:sp>
      <p:sp>
        <p:nvSpPr>
          <p:cNvPr id="20" name="Text 18"/>
          <p:cNvSpPr txBox="1"/>
          <p:nvPr/>
        </p:nvSpPr>
        <p:spPr>
          <a:xfrm>
            <a:off x="640080" y="4892040"/>
            <a:ext cx="10881360" cy="640080"/>
          </a:xfrm>
          <a:prstGeom prst="rect">
            <a:avLst/>
          </a:prstGeom>
          <a:noFill/>
          <a:ln/>
        </p:spPr>
        <p:txBody>
          <a:bodyPr wrap="square" lIns="0" tIns="0" rIns="0" bIns="0" rtlCol="0" anchor="t"/>
          <a:lstStyle/>
          <a:p>
            <a:pPr indent="0" marL="0">
              <a:lnSpc>
                <a:spcPts val="1700"/>
              </a:lnSpc>
              <a:buNone/>
            </a:pPr>
            <a:r>
              <a:rPr lang="en-US" sz="1250" i="1" dirty="0">
                <a:solidFill>
                  <a:srgbClr val="5A6B7C"/>
                </a:solidFill>
                <a:latin typeface="Calibri" pitchFamily="34" charset="0"/>
                <a:ea typeface="Calibri" pitchFamily="34" charset="-122"/>
                <a:cs typeface="Calibri" pitchFamily="34" charset="-120"/>
              </a:rPr>
              <a:t>Clean performance stays close to the clean federated baseline. Channel-aware backdoors are a serious threat to federated malware classifiers in this controlled IID setting, and motivate representation-aware defenses.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E86DE"/>
                </a:solidFill>
                <a:latin typeface="Calibri" pitchFamily="34" charset="0"/>
                <a:ea typeface="Calibri" pitchFamily="34" charset="-122"/>
                <a:cs typeface="Calibri" pitchFamily="34" charset="-120"/>
              </a:rPr>
              <a:t>METHODOLOGY   ·   1 of 5</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Five families, 100 samples each, 15 in test</a:t>
            </a:r>
            <a:endParaRPr lang="en-US" sz="3000" dirty="0"/>
          </a:p>
        </p:txBody>
      </p:sp>
      <p:sp>
        <p:nvSpPr>
          <p:cNvPr id="4" name="Shape 2"/>
          <p:cNvSpPr/>
          <p:nvPr/>
        </p:nvSpPr>
        <p:spPr>
          <a:xfrm>
            <a:off x="10506456" y="6291072"/>
            <a:ext cx="137160" cy="137160"/>
          </a:xfrm>
          <a:prstGeom prst="rect">
            <a:avLst/>
          </a:prstGeom>
          <a:solidFill>
            <a:srgbClr val="D3DCE4"/>
          </a:solidFill>
          <a:ln/>
        </p:spPr>
      </p:sp>
      <p:sp>
        <p:nvSpPr>
          <p:cNvPr id="5" name="Shape 3"/>
          <p:cNvSpPr/>
          <p:nvPr/>
        </p:nvSpPr>
        <p:spPr>
          <a:xfrm>
            <a:off x="10725912" y="6291072"/>
            <a:ext cx="137160" cy="137160"/>
          </a:xfrm>
          <a:prstGeom prst="rect">
            <a:avLst/>
          </a:prstGeom>
          <a:solidFill>
            <a:srgbClr val="2E86DE"/>
          </a:solidFill>
          <a:ln/>
        </p:spPr>
      </p:sp>
      <p:sp>
        <p:nvSpPr>
          <p:cNvPr id="6" name="Shape 4"/>
          <p:cNvSpPr/>
          <p:nvPr/>
        </p:nvSpPr>
        <p:spPr>
          <a:xfrm>
            <a:off x="10945368" y="6291072"/>
            <a:ext cx="137160" cy="137160"/>
          </a:xfrm>
          <a:prstGeom prst="rect">
            <a:avLst/>
          </a:prstGeom>
          <a:solidFill>
            <a:srgbClr val="D3DCE4"/>
          </a:solidFill>
          <a:ln/>
        </p:spPr>
      </p:sp>
      <p:sp>
        <p:nvSpPr>
          <p:cNvPr id="7" name="Shape 5"/>
          <p:cNvSpPr/>
          <p:nvPr/>
        </p:nvSpPr>
        <p:spPr>
          <a:xfrm>
            <a:off x="11164824" y="6291072"/>
            <a:ext cx="137160" cy="137160"/>
          </a:xfrm>
          <a:prstGeom prst="rect">
            <a:avLst/>
          </a:prstGeom>
          <a:solidFill>
            <a:srgbClr val="D3DCE4"/>
          </a:solidFill>
          <a:ln/>
        </p:spPr>
      </p:sp>
      <p:sp>
        <p:nvSpPr>
          <p:cNvPr id="8" name="Shape 6"/>
          <p:cNvSpPr/>
          <p:nvPr/>
        </p:nvSpPr>
        <p:spPr>
          <a:xfrm>
            <a:off x="11384280" y="6291072"/>
            <a:ext cx="137160" cy="137160"/>
          </a:xfrm>
          <a:prstGeom prst="rect">
            <a:avLst/>
          </a:prstGeom>
          <a:solidFill>
            <a:srgbClr val="D3DCE4"/>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5943600" cy="914400"/>
        </p:xfrm>
        <a:graphic>
          <a:graphicData uri="http://schemas.openxmlformats.org/drawingml/2006/table">
            <a:tbl>
              <a:tblPr/>
              <a:tblGrid>
                <a:gridCol w="2103120"/>
                <a:gridCol w="960120"/>
                <a:gridCol w="960120"/>
                <a:gridCol w="960120"/>
                <a:gridCol w="960120"/>
              </a:tblGrid>
              <a:tr h="457200">
                <a:tc>
                  <a:txBody>
                    <a:bodyPr/>
                    <a:lstStyle/>
                    <a:p>
                      <a:pPr indent="0" marL="0">
                        <a:buNone/>
                      </a:pPr>
                      <a:r>
                        <a:rPr lang="en-US" sz="1250" b="1" dirty="0">
                          <a:solidFill>
                            <a:srgbClr val="1B2A41"/>
                          </a:solidFill>
                          <a:latin typeface="Calibri" pitchFamily="34" charset="0"/>
                          <a:ea typeface="Calibri" pitchFamily="34" charset="-122"/>
                          <a:cs typeface="Calibri" pitchFamily="34" charset="-120"/>
                        </a:rPr>
                        <a:t>Family</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A41"/>
                          </a:solidFill>
                          <a:latin typeface="Calibri" pitchFamily="34" charset="0"/>
                          <a:ea typeface="Calibri" pitchFamily="34" charset="-122"/>
                          <a:cs typeface="Calibri" pitchFamily="34" charset="-120"/>
                        </a:rPr>
                        <a:t>Train</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A41"/>
                          </a:solidFill>
                          <a:latin typeface="Calibri" pitchFamily="34" charset="0"/>
                          <a:ea typeface="Calibri" pitchFamily="34" charset="-122"/>
                          <a:cs typeface="Calibri" pitchFamily="34" charset="-120"/>
                        </a:rPr>
                        <a:t>Val</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A41"/>
                          </a:solidFill>
                          <a:latin typeface="Calibri" pitchFamily="34" charset="0"/>
                          <a:ea typeface="Calibri" pitchFamily="34" charset="-122"/>
                          <a:cs typeface="Calibri" pitchFamily="34" charset="-120"/>
                        </a:rPr>
                        <a:t>Test</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A41"/>
                          </a:solidFill>
                          <a:latin typeface="Calibri" pitchFamily="34" charset="0"/>
                          <a:ea typeface="Calibri" pitchFamily="34" charset="-122"/>
                          <a:cs typeface="Calibri" pitchFamily="34" charset="-120"/>
                        </a:rPr>
                        <a:t>Total</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AgentTesla</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70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FormBook</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70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SalatStealer</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70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StealC</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70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Vidar</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70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B2A41"/>
                          </a:solidFill>
                          <a:latin typeface="Calibri" pitchFamily="34" charset="0"/>
                          <a:ea typeface="Calibri" pitchFamily="34" charset="-122"/>
                          <a:cs typeface="Calibri" pitchFamily="34" charset="-120"/>
                        </a:rPr>
                        <a:t>Total</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A41"/>
                          </a:solidFill>
                          <a:latin typeface="Calibri" pitchFamily="34" charset="0"/>
                          <a:ea typeface="Calibri" pitchFamily="34" charset="-122"/>
                          <a:cs typeface="Calibri" pitchFamily="34" charset="-120"/>
                        </a:rPr>
                        <a:t>350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A41"/>
                          </a:solidFill>
                          <a:latin typeface="Calibri" pitchFamily="34" charset="0"/>
                          <a:ea typeface="Calibri" pitchFamily="34" charset="-122"/>
                          <a:cs typeface="Calibri" pitchFamily="34" charset="-120"/>
                        </a:rPr>
                        <a:t>75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A41"/>
                          </a:solidFill>
                          <a:latin typeface="Calibri" pitchFamily="34" charset="0"/>
                          <a:ea typeface="Calibri" pitchFamily="34" charset="-122"/>
                          <a:cs typeface="Calibri" pitchFamily="34" charset="-120"/>
                        </a:rPr>
                        <a:t>75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A41"/>
                          </a:solidFill>
                          <a:latin typeface="Calibri" pitchFamily="34" charset="0"/>
                          <a:ea typeface="Calibri" pitchFamily="34" charset="-122"/>
                          <a:cs typeface="Calibri" pitchFamily="34" charset="-120"/>
                        </a:rPr>
                        <a:t>500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6949440" y="1828800"/>
            <a:ext cx="4572000" cy="3108960"/>
          </a:xfrm>
          <a:prstGeom prst="rect">
            <a:avLst/>
          </a:prstGeom>
          <a:noFill/>
          <a:ln/>
        </p:spPr>
        <p:txBody>
          <a:bodyPr wrap="square" lIns="0" tIns="0" rIns="0" bIns="0" rtlCol="0" anchor="t"/>
          <a:lstStyle/>
          <a:p>
            <a:pPr marL="342900" indent="-342900">
              <a:lnSpc>
                <a:spcPts val="2000"/>
              </a:lnSpc>
              <a:spcAft>
                <a:spcPts val="1100"/>
              </a:spcAft>
              <a:buSzPct val="100000"/>
              <a:buChar char="•"/>
            </a:pPr>
            <a:r>
              <a:rPr lang="en-US" sz="1450" dirty="0">
                <a:solidFill>
                  <a:srgbClr val="1B2A41"/>
                </a:solidFill>
                <a:latin typeface="Calibri" pitchFamily="34" charset="0"/>
                <a:ea typeface="Calibri" pitchFamily="34" charset="-122"/>
                <a:cs typeface="Calibri" pitchFamily="34" charset="-120"/>
              </a:rPr>
              <a:t>Cuckoo Sandbox traces become a 16 x 16 API tile; packet captures become a 28 x 28 network tile.</a:t>
            </a:r>
            <a:endParaRPr lang="en-US" sz="1450" dirty="0"/>
          </a:p>
          <a:p>
            <a:pPr marL="342900" indent="-342900">
              <a:lnSpc>
                <a:spcPts val="2000"/>
              </a:lnSpc>
              <a:spcAft>
                <a:spcPts val="1100"/>
              </a:spcAft>
              <a:buSzPct val="100000"/>
              <a:buChar char="•"/>
            </a:pPr>
            <a:r>
              <a:rPr lang="en-US" sz="1450" dirty="0">
                <a:solidFill>
                  <a:srgbClr val="1B2A41"/>
                </a:solidFill>
                <a:latin typeface="Calibri" pitchFamily="34" charset="0"/>
                <a:ea typeface="Calibri" pitchFamily="34" charset="-122"/>
                <a:cs typeface="Calibri" pitchFamily="34" charset="-120"/>
              </a:rPr>
              <a:t>Only the largest-payload session per sample is kept, to limit sample-level leakage.</a:t>
            </a:r>
            <a:endParaRPr lang="en-US" sz="1450" dirty="0"/>
          </a:p>
          <a:p>
            <a:pPr marL="342900" indent="-342900">
              <a:lnSpc>
                <a:spcPts val="2000"/>
              </a:lnSpc>
              <a:buSzPct val="100000"/>
              <a:buChar char="•"/>
            </a:pPr>
            <a:r>
              <a:rPr lang="en-US" sz="1450" dirty="0">
                <a:solidFill>
                  <a:srgbClr val="1B2A41"/>
                </a:solidFill>
                <a:latin typeface="Calibri" pitchFamily="34" charset="0"/>
                <a:ea typeface="Calibri" pitchFamily="34" charset="-122"/>
                <a:cs typeface="Calibri" pitchFamily="34" charset="-120"/>
              </a:rPr>
              <a:t>Stratified by family and re-drawn for every seed, so the seeds do not share a test set.</a:t>
            </a:r>
            <a:endParaRPr lang="en-US" sz="1450" dirty="0"/>
          </a:p>
        </p:txBody>
      </p:sp>
      <p:sp>
        <p:nvSpPr>
          <p:cNvPr id="11" name="Text 8"/>
          <p:cNvSpPr txBox="1"/>
          <p:nvPr/>
        </p:nvSpPr>
        <p:spPr>
          <a:xfrm>
            <a:off x="640080" y="5303520"/>
            <a:ext cx="10881360" cy="640080"/>
          </a:xfrm>
          <a:prstGeom prst="rect">
            <a:avLst/>
          </a:prstGeom>
          <a:noFill/>
          <a:ln/>
        </p:spPr>
        <p:txBody>
          <a:bodyPr wrap="square" lIns="0" tIns="0" rIns="0" bIns="0" rtlCol="0" anchor="t"/>
          <a:lstStyle/>
          <a:p>
            <a:pPr indent="0" marL="0">
              <a:lnSpc>
                <a:spcPts val="1700"/>
              </a:lnSpc>
              <a:buNone/>
            </a:pPr>
            <a:r>
              <a:rPr lang="en-US" sz="1250" i="1" dirty="0">
                <a:solidFill>
                  <a:srgbClr val="5A6B7C"/>
                </a:solidFill>
                <a:latin typeface="Calibri" pitchFamily="34" charset="0"/>
                <a:ea typeface="Calibri" pitchFamily="34" charset="-122"/>
                <a:cs typeface="Calibri" pitchFamily="34" charset="-120"/>
              </a:rPr>
              <a:t>AgentTesla is the attack's source family, so every attack success rate in this talk is a count out of those 15 test images.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E86DE"/>
                </a:solidFill>
                <a:latin typeface="Calibri" pitchFamily="34" charset="0"/>
                <a:ea typeface="Calibri" pitchFamily="34" charset="-122"/>
                <a:cs typeface="Calibri" pitchFamily="34" charset="-120"/>
              </a:rPr>
              <a:t>METHODOLOGY   ·   2 of 5</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Blue is derived from red and green, and is nearly empty</a:t>
            </a:r>
            <a:endParaRPr lang="en-US" sz="3000" dirty="0"/>
          </a:p>
        </p:txBody>
      </p:sp>
      <p:sp>
        <p:nvSpPr>
          <p:cNvPr id="4" name="Shape 2"/>
          <p:cNvSpPr/>
          <p:nvPr/>
        </p:nvSpPr>
        <p:spPr>
          <a:xfrm>
            <a:off x="10506456" y="6291072"/>
            <a:ext cx="137160" cy="137160"/>
          </a:xfrm>
          <a:prstGeom prst="rect">
            <a:avLst/>
          </a:prstGeom>
          <a:solidFill>
            <a:srgbClr val="D3DCE4"/>
          </a:solidFill>
          <a:ln/>
        </p:spPr>
      </p:sp>
      <p:sp>
        <p:nvSpPr>
          <p:cNvPr id="5" name="Shape 3"/>
          <p:cNvSpPr/>
          <p:nvPr/>
        </p:nvSpPr>
        <p:spPr>
          <a:xfrm>
            <a:off x="10725912" y="6291072"/>
            <a:ext cx="137160" cy="137160"/>
          </a:xfrm>
          <a:prstGeom prst="rect">
            <a:avLst/>
          </a:prstGeom>
          <a:solidFill>
            <a:srgbClr val="2E86DE"/>
          </a:solidFill>
          <a:ln/>
        </p:spPr>
      </p:sp>
      <p:sp>
        <p:nvSpPr>
          <p:cNvPr id="6" name="Shape 4"/>
          <p:cNvSpPr/>
          <p:nvPr/>
        </p:nvSpPr>
        <p:spPr>
          <a:xfrm>
            <a:off x="10945368" y="6291072"/>
            <a:ext cx="137160" cy="137160"/>
          </a:xfrm>
          <a:prstGeom prst="rect">
            <a:avLst/>
          </a:prstGeom>
          <a:solidFill>
            <a:srgbClr val="D3DCE4"/>
          </a:solidFill>
          <a:ln/>
        </p:spPr>
      </p:sp>
      <p:sp>
        <p:nvSpPr>
          <p:cNvPr id="7" name="Shape 5"/>
          <p:cNvSpPr/>
          <p:nvPr/>
        </p:nvSpPr>
        <p:spPr>
          <a:xfrm>
            <a:off x="11164824" y="6291072"/>
            <a:ext cx="137160" cy="137160"/>
          </a:xfrm>
          <a:prstGeom prst="rect">
            <a:avLst/>
          </a:prstGeom>
          <a:solidFill>
            <a:srgbClr val="D3DCE4"/>
          </a:solidFill>
          <a:ln/>
        </p:spPr>
      </p:sp>
      <p:sp>
        <p:nvSpPr>
          <p:cNvPr id="8" name="Shape 6"/>
          <p:cNvSpPr/>
          <p:nvPr/>
        </p:nvSpPr>
        <p:spPr>
          <a:xfrm>
            <a:off x="11384280" y="6291072"/>
            <a:ext cx="137160" cy="137160"/>
          </a:xfrm>
          <a:prstGeom prst="rect">
            <a:avLst/>
          </a:prstGeom>
          <a:solidFill>
            <a:srgbClr val="D3DCE4"/>
          </a:solidFill>
          <a:ln/>
        </p:spPr>
      </p:sp>
      <p:sp>
        <p:nvSpPr>
          <p:cNvPr id="9" name="Shape 7"/>
          <p:cNvSpPr/>
          <p:nvPr/>
        </p:nvSpPr>
        <p:spPr>
          <a:xfrm>
            <a:off x="640080" y="1828800"/>
            <a:ext cx="274320" cy="274320"/>
          </a:xfrm>
          <a:prstGeom prst="rect">
            <a:avLst/>
          </a:prstGeom>
          <a:solidFill>
            <a:srgbClr val="C0392B"/>
          </a:solidFill>
          <a:ln/>
        </p:spPr>
      </p:sp>
      <p:sp>
        <p:nvSpPr>
          <p:cNvPr id="10" name="Text 8"/>
          <p:cNvSpPr txBox="1"/>
          <p:nvPr/>
        </p:nvSpPr>
        <p:spPr>
          <a:xfrm>
            <a:off x="1024128" y="1783080"/>
            <a:ext cx="411480" cy="347472"/>
          </a:xfrm>
          <a:prstGeom prst="rect">
            <a:avLst/>
          </a:prstGeom>
          <a:noFill/>
          <a:ln/>
        </p:spPr>
        <p:txBody>
          <a:bodyPr wrap="square" lIns="0" tIns="0" rIns="0" bIns="0" rtlCol="0" anchor="ctr"/>
          <a:lstStyle/>
          <a:p>
            <a:pPr indent="0" marL="0">
              <a:buNone/>
            </a:pPr>
            <a:r>
              <a:rPr lang="en-US" sz="1700" b="1" dirty="0">
                <a:solidFill>
                  <a:srgbClr val="1B2A41"/>
                </a:solidFill>
                <a:latin typeface="Cambria" pitchFamily="34" charset="0"/>
                <a:ea typeface="Cambria" pitchFamily="34" charset="-122"/>
                <a:cs typeface="Cambria" pitchFamily="34" charset="-120"/>
              </a:rPr>
              <a:t>R</a:t>
            </a:r>
            <a:endParaRPr lang="en-US" sz="1700" dirty="0"/>
          </a:p>
        </p:txBody>
      </p:sp>
      <p:sp>
        <p:nvSpPr>
          <p:cNvPr id="11" name="Text 9"/>
          <p:cNvSpPr txBox="1"/>
          <p:nvPr/>
        </p:nvSpPr>
        <p:spPr>
          <a:xfrm>
            <a:off x="1508760" y="1810512"/>
            <a:ext cx="5029200" cy="347472"/>
          </a:xfrm>
          <a:prstGeom prst="rect">
            <a:avLst/>
          </a:prstGeom>
          <a:noFill/>
          <a:ln/>
        </p:spPr>
        <p:txBody>
          <a:bodyPr wrap="square" lIns="0" tIns="0" rIns="0" bIns="0" rtlCol="0" anchor="ctr"/>
          <a:lstStyle/>
          <a:p>
            <a:pPr indent="0" marL="0">
              <a:buNone/>
            </a:pPr>
            <a:r>
              <a:rPr lang="en-US" sz="1350" dirty="0">
                <a:solidFill>
                  <a:srgbClr val="1B2A41"/>
                </a:solidFill>
                <a:latin typeface="Calibri" pitchFamily="34" charset="0"/>
                <a:ea typeface="Calibri" pitchFamily="34" charset="-122"/>
                <a:cs typeface="Calibri" pitchFamily="34" charset="-120"/>
              </a:rPr>
              <a:t>API-call tile, 16 x 16, upscaled</a:t>
            </a:r>
            <a:endParaRPr lang="en-US" sz="1350" dirty="0"/>
          </a:p>
        </p:txBody>
      </p:sp>
      <p:sp>
        <p:nvSpPr>
          <p:cNvPr id="12" name="Shape 10"/>
          <p:cNvSpPr/>
          <p:nvPr/>
        </p:nvSpPr>
        <p:spPr>
          <a:xfrm>
            <a:off x="640080" y="2395728"/>
            <a:ext cx="274320" cy="274320"/>
          </a:xfrm>
          <a:prstGeom prst="rect">
            <a:avLst/>
          </a:prstGeom>
          <a:solidFill>
            <a:srgbClr val="27AE60"/>
          </a:solidFill>
          <a:ln/>
        </p:spPr>
      </p:sp>
      <p:sp>
        <p:nvSpPr>
          <p:cNvPr id="13" name="Text 11"/>
          <p:cNvSpPr txBox="1"/>
          <p:nvPr/>
        </p:nvSpPr>
        <p:spPr>
          <a:xfrm>
            <a:off x="1024128" y="2350008"/>
            <a:ext cx="411480" cy="347472"/>
          </a:xfrm>
          <a:prstGeom prst="rect">
            <a:avLst/>
          </a:prstGeom>
          <a:noFill/>
          <a:ln/>
        </p:spPr>
        <p:txBody>
          <a:bodyPr wrap="square" lIns="0" tIns="0" rIns="0" bIns="0" rtlCol="0" anchor="ctr"/>
          <a:lstStyle/>
          <a:p>
            <a:pPr indent="0" marL="0">
              <a:buNone/>
            </a:pPr>
            <a:r>
              <a:rPr lang="en-US" sz="1700" b="1" dirty="0">
                <a:solidFill>
                  <a:srgbClr val="1B2A41"/>
                </a:solidFill>
                <a:latin typeface="Cambria" pitchFamily="34" charset="0"/>
                <a:ea typeface="Cambria" pitchFamily="34" charset="-122"/>
                <a:cs typeface="Cambria" pitchFamily="34" charset="-120"/>
              </a:rPr>
              <a:t>G</a:t>
            </a:r>
            <a:endParaRPr lang="en-US" sz="1700" dirty="0"/>
          </a:p>
        </p:txBody>
      </p:sp>
      <p:sp>
        <p:nvSpPr>
          <p:cNvPr id="14" name="Text 12"/>
          <p:cNvSpPr txBox="1"/>
          <p:nvPr/>
        </p:nvSpPr>
        <p:spPr>
          <a:xfrm>
            <a:off x="1508760" y="2377440"/>
            <a:ext cx="5029200" cy="347472"/>
          </a:xfrm>
          <a:prstGeom prst="rect">
            <a:avLst/>
          </a:prstGeom>
          <a:noFill/>
          <a:ln/>
        </p:spPr>
        <p:txBody>
          <a:bodyPr wrap="square" lIns="0" tIns="0" rIns="0" bIns="0" rtlCol="0" anchor="ctr"/>
          <a:lstStyle/>
          <a:p>
            <a:pPr indent="0" marL="0">
              <a:buNone/>
            </a:pPr>
            <a:r>
              <a:rPr lang="en-US" sz="1350" dirty="0">
                <a:solidFill>
                  <a:srgbClr val="1B2A41"/>
                </a:solidFill>
                <a:latin typeface="Calibri" pitchFamily="34" charset="0"/>
                <a:ea typeface="Calibri" pitchFamily="34" charset="-122"/>
                <a:cs typeface="Calibri" pitchFamily="34" charset="-120"/>
              </a:rPr>
              <a:t>network tile, 28 x 28, upscaled</a:t>
            </a:r>
            <a:endParaRPr lang="en-US" sz="1350" dirty="0"/>
          </a:p>
        </p:txBody>
      </p:sp>
      <p:sp>
        <p:nvSpPr>
          <p:cNvPr id="15" name="Shape 13"/>
          <p:cNvSpPr/>
          <p:nvPr/>
        </p:nvSpPr>
        <p:spPr>
          <a:xfrm>
            <a:off x="640080" y="2962656"/>
            <a:ext cx="274320" cy="274320"/>
          </a:xfrm>
          <a:prstGeom prst="rect">
            <a:avLst/>
          </a:prstGeom>
          <a:solidFill>
            <a:srgbClr val="2E86DE"/>
          </a:solidFill>
          <a:ln/>
        </p:spPr>
      </p:sp>
      <p:sp>
        <p:nvSpPr>
          <p:cNvPr id="16" name="Text 14"/>
          <p:cNvSpPr txBox="1"/>
          <p:nvPr/>
        </p:nvSpPr>
        <p:spPr>
          <a:xfrm>
            <a:off x="1024128" y="2916936"/>
            <a:ext cx="411480" cy="347472"/>
          </a:xfrm>
          <a:prstGeom prst="rect">
            <a:avLst/>
          </a:prstGeom>
          <a:noFill/>
          <a:ln/>
        </p:spPr>
        <p:txBody>
          <a:bodyPr wrap="square" lIns="0" tIns="0" rIns="0" bIns="0" rtlCol="0" anchor="ctr"/>
          <a:lstStyle/>
          <a:p>
            <a:pPr indent="0" marL="0">
              <a:buNone/>
            </a:pPr>
            <a:r>
              <a:rPr lang="en-US" sz="1700" b="1" dirty="0">
                <a:solidFill>
                  <a:srgbClr val="1B2A41"/>
                </a:solidFill>
                <a:latin typeface="Cambria" pitchFamily="34" charset="0"/>
                <a:ea typeface="Cambria" pitchFamily="34" charset="-122"/>
                <a:cs typeface="Cambria" pitchFamily="34" charset="-120"/>
              </a:rPr>
              <a:t>B</a:t>
            </a:r>
            <a:endParaRPr lang="en-US" sz="1700" dirty="0"/>
          </a:p>
        </p:txBody>
      </p:sp>
      <p:sp>
        <p:nvSpPr>
          <p:cNvPr id="17" name="Text 15"/>
          <p:cNvSpPr txBox="1"/>
          <p:nvPr/>
        </p:nvSpPr>
        <p:spPr>
          <a:xfrm>
            <a:off x="1508760" y="2944368"/>
            <a:ext cx="5029200" cy="347472"/>
          </a:xfrm>
          <a:prstGeom prst="rect">
            <a:avLst/>
          </a:prstGeom>
          <a:noFill/>
          <a:ln/>
        </p:spPr>
        <p:txBody>
          <a:bodyPr wrap="square" lIns="0" tIns="0" rIns="0" bIns="0" rtlCol="0" anchor="ctr"/>
          <a:lstStyle/>
          <a:p>
            <a:pPr indent="0" marL="0">
              <a:buNone/>
            </a:pPr>
            <a:r>
              <a:rPr lang="en-US" sz="1350" dirty="0">
                <a:solidFill>
                  <a:srgbClr val="1B2A41"/>
                </a:solidFill>
                <a:latin typeface="Calibri" pitchFamily="34" charset="0"/>
                <a:ea typeface="Calibri" pitchFamily="34" charset="-122"/>
                <a:cs typeface="Calibri" pitchFamily="34" charset="-120"/>
              </a:rPr>
              <a:t>edge map of the average of R and G</a:t>
            </a:r>
            <a:endParaRPr lang="en-US" sz="1350" dirty="0"/>
          </a:p>
        </p:txBody>
      </p:sp>
      <p:sp>
        <p:nvSpPr>
          <p:cNvPr id="18" name="Shape 16"/>
          <p:cNvSpPr/>
          <p:nvPr/>
        </p:nvSpPr>
        <p:spPr>
          <a:xfrm>
            <a:off x="640080" y="3611880"/>
            <a:ext cx="6126480" cy="1828800"/>
          </a:xfrm>
          <a:prstGeom prst="roundRect">
            <a:avLst>
              <a:gd name="adj" fmla="val 3000"/>
            </a:avLst>
          </a:prstGeom>
          <a:solidFill>
            <a:srgbClr val="E8F1FC"/>
          </a:solidFill>
          <a:ln/>
        </p:spPr>
      </p:sp>
      <p:sp>
        <p:nvSpPr>
          <p:cNvPr id="19" name="Text 17"/>
          <p:cNvSpPr txBox="1"/>
          <p:nvPr/>
        </p:nvSpPr>
        <p:spPr>
          <a:xfrm>
            <a:off x="914400" y="3767328"/>
            <a:ext cx="5577840" cy="384048"/>
          </a:xfrm>
          <a:prstGeom prst="rect">
            <a:avLst/>
          </a:prstGeom>
          <a:noFill/>
          <a:ln/>
        </p:spPr>
        <p:txBody>
          <a:bodyPr wrap="square" lIns="0" tIns="0" rIns="0" bIns="0" rtlCol="0" anchor="ctr"/>
          <a:lstStyle/>
          <a:p>
            <a:pPr indent="0" marL="0">
              <a:buNone/>
            </a:pPr>
            <a:r>
              <a:rPr lang="en-US" sz="1900" b="1" dirty="0">
                <a:solidFill>
                  <a:srgbClr val="2E86DE"/>
                </a:solidFill>
                <a:latin typeface="Cambria" pitchFamily="34" charset="0"/>
                <a:ea typeface="Cambria" pitchFamily="34" charset="-122"/>
                <a:cs typeface="Cambria" pitchFamily="34" charset="-120"/>
              </a:rPr>
              <a:t>B = FindEdges( (R + G) / 2 )</a:t>
            </a:r>
            <a:endParaRPr lang="en-US" sz="1900" dirty="0"/>
          </a:p>
        </p:txBody>
      </p:sp>
      <p:sp>
        <p:nvSpPr>
          <p:cNvPr id="20" name="Text 18"/>
          <p:cNvSpPr txBox="1"/>
          <p:nvPr/>
        </p:nvSpPr>
        <p:spPr>
          <a:xfrm>
            <a:off x="914400" y="4187952"/>
            <a:ext cx="5577840" cy="1143000"/>
          </a:xfrm>
          <a:prstGeom prst="rect">
            <a:avLst/>
          </a:prstGeom>
          <a:noFill/>
          <a:ln/>
        </p:spPr>
        <p:txBody>
          <a:bodyPr wrap="square" lIns="0" tIns="0" rIns="0" bIns="0" rtlCol="0" anchor="t"/>
          <a:lstStyle/>
          <a:p>
            <a:pPr indent="0" marL="0">
              <a:lnSpc>
                <a:spcPts val="1700"/>
              </a:lnSpc>
              <a:buNone/>
            </a:pPr>
            <a:r>
              <a:rPr lang="en-US" sz="1250" dirty="0">
                <a:solidFill>
                  <a:srgbClr val="1B2A41"/>
                </a:solidFill>
                <a:latin typeface="Calibri" pitchFamily="34" charset="0"/>
                <a:ea typeface="Calibri" pitchFamily="34" charset="-122"/>
                <a:cs typeface="Calibri" pitchFamily="34" charset="-120"/>
              </a:rPr>
              <a:t>A 3 x 3 edge convolution, so blue is a deterministic function of the other two and adds no independent information. It is also the emptiest channel: 62.8% of its pixels are exactly zero across the 500 images, 54.5% in AgentTesla.</a:t>
            </a:r>
            <a:endParaRPr lang="en-US" sz="1250" dirty="0"/>
          </a:p>
        </p:txBody>
      </p:sp>
      <p:pic>
        <p:nvPicPr>
          <p:cNvPr id="21" name="Image 0" descr="C:\Users\wwyl5\Project\malware\paper\malware.png">    </p:cNvPr>
          <p:cNvPicPr>
            <a:picLocks noChangeAspect="1"/>
          </p:cNvPicPr>
          <p:nvPr/>
        </p:nvPicPr>
        <p:blipFill>
          <a:blip r:embed="rId1"/>
          <a:srcRect l="0" r="0" t="0" b="0"/>
          <a:stretch/>
        </p:blipFill>
        <p:spPr>
          <a:xfrm>
            <a:off x="7178040" y="1737360"/>
            <a:ext cx="4343400" cy="3429000"/>
          </a:xfrm>
          <a:prstGeom prst="rect">
            <a:avLst/>
          </a:prstGeom>
        </p:spPr>
      </p:pic>
      <p:sp>
        <p:nvSpPr>
          <p:cNvPr id="22" name="Text 19"/>
          <p:cNvSpPr txBox="1"/>
          <p:nvPr/>
        </p:nvSpPr>
        <p:spPr>
          <a:xfrm>
            <a:off x="7178040" y="5212080"/>
            <a:ext cx="4343400" cy="274320"/>
          </a:xfrm>
          <a:prstGeom prst="rect">
            <a:avLst/>
          </a:prstGeom>
          <a:noFill/>
          <a:ln/>
        </p:spPr>
        <p:txBody>
          <a:bodyPr wrap="square" lIns="0" tIns="0" rIns="0" bIns="0" rtlCol="0" anchor="ctr"/>
          <a:lstStyle/>
          <a:p>
            <a:pPr indent="0" marL="0">
              <a:buNone/>
            </a:pPr>
            <a:r>
              <a:rPr lang="en-US" sz="1100" dirty="0">
                <a:solidFill>
                  <a:srgbClr val="5A6B7C"/>
                </a:solidFill>
                <a:latin typeface="Calibri" pitchFamily="34" charset="0"/>
                <a:ea typeface="Calibri" pitchFamily="34" charset="-122"/>
                <a:cs typeface="Calibri" pitchFamily="34" charset="-120"/>
              </a:rPr>
              <a:t>Processed representations, one column per family</a:t>
            </a:r>
            <a:endParaRPr lang="en-US" sz="1100" dirty="0"/>
          </a:p>
        </p:txBody>
      </p:sp>
      <p:sp>
        <p:nvSpPr>
          <p:cNvPr id="23" name="Text 20"/>
          <p:cNvSpPr txBox="1"/>
          <p:nvPr/>
        </p:nvSpPr>
        <p:spPr>
          <a:xfrm>
            <a:off x="640080" y="5623560"/>
            <a:ext cx="10881360" cy="640080"/>
          </a:xfrm>
          <a:prstGeom prst="rect">
            <a:avLst/>
          </a:prstGeom>
          <a:noFill/>
          <a:ln/>
        </p:spPr>
        <p:txBody>
          <a:bodyPr wrap="square" lIns="0" tIns="0" rIns="0" bIns="0" rtlCol="0" anchor="t"/>
          <a:lstStyle/>
          <a:p>
            <a:pPr indent="0" marL="0">
              <a:lnSpc>
                <a:spcPts val="1700"/>
              </a:lnSpc>
              <a:buNone/>
            </a:pPr>
            <a:r>
              <a:rPr lang="en-US" sz="1250" i="1" dirty="0">
                <a:solidFill>
                  <a:srgbClr val="5A6B7C"/>
                </a:solidFill>
                <a:latin typeface="Calibri" pitchFamily="34" charset="0"/>
                <a:ea typeface="Calibri" pitchFamily="34" charset="-122"/>
                <a:cs typeface="Calibri" pitchFamily="34" charset="-120"/>
              </a:rPr>
              <a:t>Opacity blend mixes both sources into every channel; RGB-stack is used because only it separates the sources by channel.</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E86DE"/>
                </a:solidFill>
                <a:latin typeface="Calibri" pitchFamily="34" charset="0"/>
                <a:ea typeface="Calibri" pitchFamily="34" charset="-122"/>
                <a:cs typeface="Calibri" pitchFamily="34" charset="-120"/>
              </a:rPr>
              <a:t>METHODOLOGY   ·   3 of 5</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RGB-stack for channel separation, ResNet18 within it</a:t>
            </a:r>
            <a:endParaRPr lang="en-US" sz="3000" dirty="0"/>
          </a:p>
        </p:txBody>
      </p:sp>
      <p:sp>
        <p:nvSpPr>
          <p:cNvPr id="4" name="Shape 2"/>
          <p:cNvSpPr/>
          <p:nvPr/>
        </p:nvSpPr>
        <p:spPr>
          <a:xfrm>
            <a:off x="10506456" y="6291072"/>
            <a:ext cx="137160" cy="137160"/>
          </a:xfrm>
          <a:prstGeom prst="rect">
            <a:avLst/>
          </a:prstGeom>
          <a:solidFill>
            <a:srgbClr val="D3DCE4"/>
          </a:solidFill>
          <a:ln/>
        </p:spPr>
      </p:sp>
      <p:sp>
        <p:nvSpPr>
          <p:cNvPr id="5" name="Shape 3"/>
          <p:cNvSpPr/>
          <p:nvPr/>
        </p:nvSpPr>
        <p:spPr>
          <a:xfrm>
            <a:off x="10725912" y="6291072"/>
            <a:ext cx="137160" cy="137160"/>
          </a:xfrm>
          <a:prstGeom prst="rect">
            <a:avLst/>
          </a:prstGeom>
          <a:solidFill>
            <a:srgbClr val="2E86DE"/>
          </a:solidFill>
          <a:ln/>
        </p:spPr>
      </p:sp>
      <p:sp>
        <p:nvSpPr>
          <p:cNvPr id="6" name="Shape 4"/>
          <p:cNvSpPr/>
          <p:nvPr/>
        </p:nvSpPr>
        <p:spPr>
          <a:xfrm>
            <a:off x="10945368" y="6291072"/>
            <a:ext cx="137160" cy="137160"/>
          </a:xfrm>
          <a:prstGeom prst="rect">
            <a:avLst/>
          </a:prstGeom>
          <a:solidFill>
            <a:srgbClr val="D3DCE4"/>
          </a:solidFill>
          <a:ln/>
        </p:spPr>
      </p:sp>
      <p:sp>
        <p:nvSpPr>
          <p:cNvPr id="7" name="Shape 5"/>
          <p:cNvSpPr/>
          <p:nvPr/>
        </p:nvSpPr>
        <p:spPr>
          <a:xfrm>
            <a:off x="11164824" y="6291072"/>
            <a:ext cx="137160" cy="137160"/>
          </a:xfrm>
          <a:prstGeom prst="rect">
            <a:avLst/>
          </a:prstGeom>
          <a:solidFill>
            <a:srgbClr val="D3DCE4"/>
          </a:solidFill>
          <a:ln/>
        </p:spPr>
      </p:sp>
      <p:sp>
        <p:nvSpPr>
          <p:cNvPr id="8" name="Shape 6"/>
          <p:cNvSpPr/>
          <p:nvPr/>
        </p:nvSpPr>
        <p:spPr>
          <a:xfrm>
            <a:off x="11384280" y="6291072"/>
            <a:ext cx="137160" cy="137160"/>
          </a:xfrm>
          <a:prstGeom prst="rect">
            <a:avLst/>
          </a:prstGeom>
          <a:solidFill>
            <a:srgbClr val="D3DCE4"/>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6400800" cy="914400"/>
        </p:xfrm>
        <a:graphic>
          <a:graphicData uri="http://schemas.openxmlformats.org/drawingml/2006/table">
            <a:tbl>
              <a:tblPr/>
              <a:tblGrid>
                <a:gridCol w="2011680"/>
                <a:gridCol w="1737360"/>
                <a:gridCol w="1325880"/>
                <a:gridCol w="1325880"/>
              </a:tblGrid>
              <a:tr h="457200">
                <a:tc>
                  <a:txBody>
                    <a:bodyPr/>
                    <a:lstStyle/>
                    <a:p>
                      <a:pPr indent="0" marL="0">
                        <a:buNone/>
                      </a:pPr>
                      <a:r>
                        <a:rPr lang="en-US" sz="1250" b="1" dirty="0">
                          <a:solidFill>
                            <a:srgbClr val="1B2A41"/>
                          </a:solidFill>
                          <a:latin typeface="Calibri" pitchFamily="34" charset="0"/>
                          <a:ea typeface="Calibri" pitchFamily="34" charset="-122"/>
                          <a:cs typeface="Calibri" pitchFamily="34" charset="-120"/>
                        </a:rPr>
                        <a:t>Representation</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indent="0" marL="0">
                        <a:buNone/>
                      </a:pPr>
                      <a:r>
                        <a:rPr lang="en-US" sz="1250" b="1" dirty="0">
                          <a:solidFill>
                            <a:srgbClr val="1B2A41"/>
                          </a:solidFill>
                          <a:latin typeface="Calibri" pitchFamily="34" charset="0"/>
                          <a:ea typeface="Calibri" pitchFamily="34" charset="-122"/>
                          <a:cs typeface="Calibri" pitchFamily="34" charset="-120"/>
                        </a:rPr>
                        <a:t>Backbone</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A41"/>
                          </a:solidFill>
                          <a:latin typeface="Calibri" pitchFamily="34" charset="0"/>
                          <a:ea typeface="Calibri" pitchFamily="34" charset="-122"/>
                          <a:cs typeface="Calibri" pitchFamily="34" charset="-120"/>
                        </a:rPr>
                        <a:t>Acc.</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A41"/>
                          </a:solidFill>
                          <a:latin typeface="Calibri" pitchFamily="34" charset="0"/>
                          <a:ea typeface="Calibri" pitchFamily="34" charset="-122"/>
                          <a:cs typeface="Calibri" pitchFamily="34" charset="-120"/>
                        </a:rPr>
                        <a:t>Macro-F1</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Opacity blend</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SmallCNN</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0.5333</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0.5298</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Opacity blend</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MobileNetV2</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0.6933</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0.6903</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Opacity blend</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ResNet18</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0.7733</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0.7730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RGB-stack</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SmallCNN</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0.5200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0.5144</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RGB-stack</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MobileNetV2</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0.7200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0.7200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B2A41"/>
                          </a:solidFill>
                          <a:latin typeface="Calibri" pitchFamily="34" charset="0"/>
                          <a:ea typeface="Calibri" pitchFamily="34" charset="-122"/>
                          <a:cs typeface="Calibri" pitchFamily="34" charset="-120"/>
                        </a:rPr>
                        <a:t>RGB-stack</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indent="0" marL="0">
                        <a:buNone/>
                      </a:pPr>
                      <a:r>
                        <a:rPr lang="en-US" sz="1250" b="1" dirty="0">
                          <a:solidFill>
                            <a:srgbClr val="1B2A41"/>
                          </a:solidFill>
                          <a:latin typeface="Calibri" pitchFamily="34" charset="0"/>
                          <a:ea typeface="Calibri" pitchFamily="34" charset="-122"/>
                          <a:cs typeface="Calibri" pitchFamily="34" charset="-120"/>
                        </a:rPr>
                        <a:t>ResNet18</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2E86DE"/>
                          </a:solidFill>
                          <a:latin typeface="Calibri" pitchFamily="34" charset="0"/>
                          <a:ea typeface="Calibri" pitchFamily="34" charset="-122"/>
                          <a:cs typeface="Calibri" pitchFamily="34" charset="-120"/>
                        </a:rPr>
                        <a:t>0.7867</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2E86DE"/>
                          </a:solidFill>
                          <a:latin typeface="Calibri" pitchFamily="34" charset="0"/>
                          <a:ea typeface="Calibri" pitchFamily="34" charset="-122"/>
                          <a:cs typeface="Calibri" pitchFamily="34" charset="-120"/>
                        </a:rPr>
                        <a:t>0.7884</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10" name="Shape 7"/>
          <p:cNvSpPr/>
          <p:nvPr/>
        </p:nvSpPr>
        <p:spPr>
          <a:xfrm>
            <a:off x="7635240" y="1783080"/>
            <a:ext cx="3886200" cy="3200400"/>
          </a:xfrm>
          <a:prstGeom prst="roundRect">
            <a:avLst>
              <a:gd name="adj" fmla="val 1714"/>
            </a:avLst>
          </a:prstGeom>
          <a:solidFill>
            <a:srgbClr val="EDF1F5"/>
          </a:solidFill>
          <a:ln/>
        </p:spPr>
      </p:sp>
      <p:sp>
        <p:nvSpPr>
          <p:cNvPr id="11" name="Text 8"/>
          <p:cNvSpPr txBox="1"/>
          <p:nvPr/>
        </p:nvSpPr>
        <p:spPr>
          <a:xfrm>
            <a:off x="7909560" y="2011680"/>
            <a:ext cx="3337560" cy="274320"/>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Federated setting</a:t>
            </a:r>
            <a:endParaRPr lang="en-US" sz="1250" dirty="0"/>
          </a:p>
        </p:txBody>
      </p:sp>
      <p:sp>
        <p:nvSpPr>
          <p:cNvPr id="12" name="Text 9"/>
          <p:cNvSpPr txBox="1"/>
          <p:nvPr/>
        </p:nvSpPr>
        <p:spPr>
          <a:xfrm>
            <a:off x="7909560" y="2514600"/>
            <a:ext cx="1234440" cy="274320"/>
          </a:xfrm>
          <a:prstGeom prst="rect">
            <a:avLst/>
          </a:prstGeom>
          <a:noFill/>
          <a:ln/>
        </p:spPr>
        <p:txBody>
          <a:bodyPr wrap="square" lIns="0" tIns="0" rIns="0" bIns="0" rtlCol="0" anchor="t"/>
          <a:lstStyle/>
          <a:p>
            <a:pPr indent="0" marL="0">
              <a:buNone/>
            </a:pPr>
            <a:r>
              <a:rPr lang="en-US" sz="1300" b="1" dirty="0">
                <a:solidFill>
                  <a:srgbClr val="2E86DE"/>
                </a:solidFill>
                <a:latin typeface="Calibri" pitchFamily="34" charset="0"/>
                <a:ea typeface="Calibri" pitchFamily="34" charset="-122"/>
                <a:cs typeface="Calibri" pitchFamily="34" charset="-120"/>
              </a:rPr>
              <a:t>FedAvg</a:t>
            </a:r>
            <a:endParaRPr lang="en-US" sz="1300" dirty="0"/>
          </a:p>
        </p:txBody>
      </p:sp>
      <p:sp>
        <p:nvSpPr>
          <p:cNvPr id="13" name="Text 10"/>
          <p:cNvSpPr txBox="1"/>
          <p:nvPr/>
        </p:nvSpPr>
        <p:spPr>
          <a:xfrm>
            <a:off x="9189720" y="2514600"/>
            <a:ext cx="2103120" cy="502920"/>
          </a:xfrm>
          <a:prstGeom prst="rect">
            <a:avLst/>
          </a:prstGeom>
          <a:noFill/>
          <a:ln/>
        </p:spPr>
        <p:txBody>
          <a:bodyPr wrap="square" lIns="0" tIns="0" rIns="0" bIns="0" rtlCol="0" anchor="t"/>
          <a:lstStyle/>
          <a:p>
            <a:pPr indent="0" marL="0">
              <a:lnSpc>
                <a:spcPts val="1500"/>
              </a:lnSpc>
              <a:buNone/>
            </a:pPr>
            <a:r>
              <a:rPr lang="en-US" sz="1200" dirty="0">
                <a:solidFill>
                  <a:srgbClr val="1B2A41"/>
                </a:solidFill>
                <a:latin typeface="Calibri" pitchFamily="34" charset="0"/>
                <a:ea typeface="Calibri" pitchFamily="34" charset="-122"/>
                <a:cs typeface="Calibri" pitchFamily="34" charset="-120"/>
              </a:rPr>
              <a:t>one server, five clients</a:t>
            </a:r>
            <a:endParaRPr lang="en-US" sz="1200" dirty="0"/>
          </a:p>
        </p:txBody>
      </p:sp>
      <p:sp>
        <p:nvSpPr>
          <p:cNvPr id="14" name="Text 11"/>
          <p:cNvSpPr txBox="1"/>
          <p:nvPr/>
        </p:nvSpPr>
        <p:spPr>
          <a:xfrm>
            <a:off x="7909560" y="3264408"/>
            <a:ext cx="1234440" cy="274320"/>
          </a:xfrm>
          <a:prstGeom prst="rect">
            <a:avLst/>
          </a:prstGeom>
          <a:noFill/>
          <a:ln/>
        </p:spPr>
        <p:txBody>
          <a:bodyPr wrap="square" lIns="0" tIns="0" rIns="0" bIns="0" rtlCol="0" anchor="t"/>
          <a:lstStyle/>
          <a:p>
            <a:pPr indent="0" marL="0">
              <a:buNone/>
            </a:pPr>
            <a:r>
              <a:rPr lang="en-US" sz="1300" b="1" dirty="0">
                <a:solidFill>
                  <a:srgbClr val="2E86DE"/>
                </a:solidFill>
                <a:latin typeface="Calibri" pitchFamily="34" charset="0"/>
                <a:ea typeface="Calibri" pitchFamily="34" charset="-122"/>
                <a:cs typeface="Calibri" pitchFamily="34" charset="-120"/>
              </a:rPr>
              <a:t>70 images</a:t>
            </a:r>
            <a:endParaRPr lang="en-US" sz="1300" dirty="0"/>
          </a:p>
        </p:txBody>
      </p:sp>
      <p:sp>
        <p:nvSpPr>
          <p:cNvPr id="15" name="Text 12"/>
          <p:cNvSpPr txBox="1"/>
          <p:nvPr/>
        </p:nvSpPr>
        <p:spPr>
          <a:xfrm>
            <a:off x="9189720" y="3264408"/>
            <a:ext cx="2103120" cy="502920"/>
          </a:xfrm>
          <a:prstGeom prst="rect">
            <a:avLst/>
          </a:prstGeom>
          <a:noFill/>
          <a:ln/>
        </p:spPr>
        <p:txBody>
          <a:bodyPr wrap="square" lIns="0" tIns="0" rIns="0" bIns="0" rtlCol="0" anchor="t"/>
          <a:lstStyle/>
          <a:p>
            <a:pPr indent="0" marL="0">
              <a:lnSpc>
                <a:spcPts val="1500"/>
              </a:lnSpc>
              <a:buNone/>
            </a:pPr>
            <a:r>
              <a:rPr lang="en-US" sz="1200" dirty="0">
                <a:solidFill>
                  <a:srgbClr val="1B2A41"/>
                </a:solidFill>
                <a:latin typeface="Calibri" pitchFamily="34" charset="0"/>
                <a:ea typeface="Calibri" pitchFamily="34" charset="-122"/>
                <a:cs typeface="Calibri" pitchFamily="34" charset="-120"/>
              </a:rPr>
              <a:t>per client, 14 per family, IID</a:t>
            </a:r>
            <a:endParaRPr lang="en-US" sz="1200" dirty="0"/>
          </a:p>
        </p:txBody>
      </p:sp>
      <p:sp>
        <p:nvSpPr>
          <p:cNvPr id="16" name="Text 13"/>
          <p:cNvSpPr txBox="1"/>
          <p:nvPr/>
        </p:nvSpPr>
        <p:spPr>
          <a:xfrm>
            <a:off x="7909560" y="4014216"/>
            <a:ext cx="1234440" cy="274320"/>
          </a:xfrm>
          <a:prstGeom prst="rect">
            <a:avLst/>
          </a:prstGeom>
          <a:noFill/>
          <a:ln/>
        </p:spPr>
        <p:txBody>
          <a:bodyPr wrap="square" lIns="0" tIns="0" rIns="0" bIns="0" rtlCol="0" anchor="t"/>
          <a:lstStyle/>
          <a:p>
            <a:pPr indent="0" marL="0">
              <a:buNone/>
            </a:pPr>
            <a:r>
              <a:rPr lang="en-US" sz="1300" b="1" dirty="0">
                <a:solidFill>
                  <a:srgbClr val="2E86DE"/>
                </a:solidFill>
                <a:latin typeface="Calibri" pitchFamily="34" charset="0"/>
                <a:ea typeface="Calibri" pitchFamily="34" charset="-122"/>
                <a:cs typeface="Calibri" pitchFamily="34" charset="-120"/>
              </a:rPr>
              <a:t>50 x 2</a:t>
            </a:r>
            <a:endParaRPr lang="en-US" sz="1300" dirty="0"/>
          </a:p>
        </p:txBody>
      </p:sp>
      <p:sp>
        <p:nvSpPr>
          <p:cNvPr id="17" name="Text 14"/>
          <p:cNvSpPr txBox="1"/>
          <p:nvPr/>
        </p:nvSpPr>
        <p:spPr>
          <a:xfrm>
            <a:off x="9189720" y="4014216"/>
            <a:ext cx="2103120" cy="502920"/>
          </a:xfrm>
          <a:prstGeom prst="rect">
            <a:avLst/>
          </a:prstGeom>
          <a:noFill/>
          <a:ln/>
        </p:spPr>
        <p:txBody>
          <a:bodyPr wrap="square" lIns="0" tIns="0" rIns="0" bIns="0" rtlCol="0" anchor="t"/>
          <a:lstStyle/>
          <a:p>
            <a:pPr indent="0" marL="0">
              <a:lnSpc>
                <a:spcPts val="1500"/>
              </a:lnSpc>
              <a:buNone/>
            </a:pPr>
            <a:r>
              <a:rPr lang="en-US" sz="1200" dirty="0">
                <a:solidFill>
                  <a:srgbClr val="1B2A41"/>
                </a:solidFill>
                <a:latin typeface="Calibri" pitchFamily="34" charset="0"/>
                <a:ea typeface="Calibri" pitchFamily="34" charset="-122"/>
                <a:cs typeface="Calibri" pitchFamily="34" charset="-120"/>
              </a:rPr>
              <a:t>rounds x local epochs, final-round model</a:t>
            </a:r>
            <a:endParaRPr lang="en-US" sz="1200" dirty="0"/>
          </a:p>
        </p:txBody>
      </p:sp>
      <p:sp>
        <p:nvSpPr>
          <p:cNvPr id="18" name="Text 15"/>
          <p:cNvSpPr txBox="1"/>
          <p:nvPr/>
        </p:nvSpPr>
        <p:spPr>
          <a:xfrm>
            <a:off x="640080" y="5303520"/>
            <a:ext cx="10881360" cy="640080"/>
          </a:xfrm>
          <a:prstGeom prst="rect">
            <a:avLst/>
          </a:prstGeom>
          <a:noFill/>
          <a:ln/>
        </p:spPr>
        <p:txBody>
          <a:bodyPr wrap="square" lIns="0" tIns="0" rIns="0" bIns="0" rtlCol="0" anchor="t"/>
          <a:lstStyle/>
          <a:p>
            <a:pPr indent="0" marL="0">
              <a:lnSpc>
                <a:spcPts val="1700"/>
              </a:lnSpc>
              <a:buNone/>
            </a:pPr>
            <a:r>
              <a:rPr lang="en-US" sz="1250" i="1" dirty="0">
                <a:solidFill>
                  <a:srgbClr val="5A6B7C"/>
                </a:solidFill>
                <a:latin typeface="Calibri" pitchFamily="34" charset="0"/>
                <a:ea typeface="Calibri" pitchFamily="34" charset="-122"/>
                <a:cs typeface="Calibri" pitchFamily="34" charset="-120"/>
              </a:rPr>
              <a:t>The two representations were generated from different split files, so this table is not a paired comparison. RGB-stack is chosen because channel separation is required here; macro-F1 selects only the backbone within it. Seed 42, ResNet18 trained from scratch with AdamW.</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E86DE"/>
                </a:solidFill>
                <a:latin typeface="Calibri" pitchFamily="34" charset="0"/>
                <a:ea typeface="Calibri" pitchFamily="34" charset="-122"/>
                <a:cs typeface="Calibri" pitchFamily="34" charset="-120"/>
              </a:rPr>
              <a:t>METHODOLOGY   ·   4 of 5</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The attacker is weak by design: two images per round</a:t>
            </a:r>
            <a:endParaRPr lang="en-US" sz="3000" dirty="0"/>
          </a:p>
        </p:txBody>
      </p:sp>
      <p:sp>
        <p:nvSpPr>
          <p:cNvPr id="4" name="Shape 2"/>
          <p:cNvSpPr/>
          <p:nvPr/>
        </p:nvSpPr>
        <p:spPr>
          <a:xfrm>
            <a:off x="10506456" y="6291072"/>
            <a:ext cx="137160" cy="137160"/>
          </a:xfrm>
          <a:prstGeom prst="rect">
            <a:avLst/>
          </a:prstGeom>
          <a:solidFill>
            <a:srgbClr val="D3DCE4"/>
          </a:solidFill>
          <a:ln/>
        </p:spPr>
      </p:sp>
      <p:sp>
        <p:nvSpPr>
          <p:cNvPr id="5" name="Shape 3"/>
          <p:cNvSpPr/>
          <p:nvPr/>
        </p:nvSpPr>
        <p:spPr>
          <a:xfrm>
            <a:off x="10725912" y="6291072"/>
            <a:ext cx="137160" cy="137160"/>
          </a:xfrm>
          <a:prstGeom prst="rect">
            <a:avLst/>
          </a:prstGeom>
          <a:solidFill>
            <a:srgbClr val="2E86DE"/>
          </a:solidFill>
          <a:ln/>
        </p:spPr>
      </p:sp>
      <p:sp>
        <p:nvSpPr>
          <p:cNvPr id="6" name="Shape 4"/>
          <p:cNvSpPr/>
          <p:nvPr/>
        </p:nvSpPr>
        <p:spPr>
          <a:xfrm>
            <a:off x="10945368" y="6291072"/>
            <a:ext cx="137160" cy="137160"/>
          </a:xfrm>
          <a:prstGeom prst="rect">
            <a:avLst/>
          </a:prstGeom>
          <a:solidFill>
            <a:srgbClr val="D3DCE4"/>
          </a:solidFill>
          <a:ln/>
        </p:spPr>
      </p:sp>
      <p:sp>
        <p:nvSpPr>
          <p:cNvPr id="7" name="Shape 5"/>
          <p:cNvSpPr/>
          <p:nvPr/>
        </p:nvSpPr>
        <p:spPr>
          <a:xfrm>
            <a:off x="11164824" y="6291072"/>
            <a:ext cx="137160" cy="137160"/>
          </a:xfrm>
          <a:prstGeom prst="rect">
            <a:avLst/>
          </a:prstGeom>
          <a:solidFill>
            <a:srgbClr val="D3DCE4"/>
          </a:solidFill>
          <a:ln/>
        </p:spPr>
      </p:sp>
      <p:sp>
        <p:nvSpPr>
          <p:cNvPr id="8" name="Shape 6"/>
          <p:cNvSpPr/>
          <p:nvPr/>
        </p:nvSpPr>
        <p:spPr>
          <a:xfrm>
            <a:off x="11384280" y="6291072"/>
            <a:ext cx="137160" cy="137160"/>
          </a:xfrm>
          <a:prstGeom prst="rect">
            <a:avLst/>
          </a:prstGeom>
          <a:solidFill>
            <a:srgbClr val="D3DCE4"/>
          </a:solidFill>
          <a:ln/>
        </p:spPr>
      </p:sp>
      <p:sp>
        <p:nvSpPr>
          <p:cNvPr id="9" name="Shape 7"/>
          <p:cNvSpPr/>
          <p:nvPr/>
        </p:nvSpPr>
        <p:spPr>
          <a:xfrm>
            <a:off x="640080" y="1783080"/>
            <a:ext cx="2560320" cy="1828800"/>
          </a:xfrm>
          <a:prstGeom prst="roundRect">
            <a:avLst>
              <a:gd name="adj" fmla="val 3000"/>
            </a:avLst>
          </a:prstGeom>
          <a:solidFill>
            <a:srgbClr val="EDF1F5"/>
          </a:solidFill>
          <a:ln/>
        </p:spPr>
      </p:sp>
      <p:sp>
        <p:nvSpPr>
          <p:cNvPr id="10" name="Text 8"/>
          <p:cNvSpPr txBox="1"/>
          <p:nvPr/>
        </p:nvSpPr>
        <p:spPr>
          <a:xfrm>
            <a:off x="868680" y="1965960"/>
            <a:ext cx="2103120" cy="502920"/>
          </a:xfrm>
          <a:prstGeom prst="rect">
            <a:avLst/>
          </a:prstGeom>
          <a:noFill/>
          <a:ln/>
        </p:spPr>
        <p:txBody>
          <a:bodyPr wrap="square" lIns="0" tIns="0" rIns="0" bIns="0" rtlCol="0" anchor="ctr"/>
          <a:lstStyle/>
          <a:p>
            <a:pPr indent="0" marL="0">
              <a:buNone/>
            </a:pPr>
            <a:r>
              <a:rPr lang="en-US" sz="2400" b="1" dirty="0">
                <a:solidFill>
                  <a:srgbClr val="2E86DE"/>
                </a:solidFill>
                <a:latin typeface="Cambria" pitchFamily="34" charset="0"/>
                <a:ea typeface="Cambria" pitchFamily="34" charset="-122"/>
                <a:cs typeface="Cambria" pitchFamily="34" charset="-120"/>
              </a:rPr>
              <a:t>1 of 5</a:t>
            </a:r>
            <a:endParaRPr lang="en-US" sz="2400" dirty="0"/>
          </a:p>
        </p:txBody>
      </p:sp>
      <p:sp>
        <p:nvSpPr>
          <p:cNvPr id="11" name="Text 9"/>
          <p:cNvSpPr txBox="1"/>
          <p:nvPr/>
        </p:nvSpPr>
        <p:spPr>
          <a:xfrm>
            <a:off x="868680" y="2514600"/>
            <a:ext cx="2148840" cy="960120"/>
          </a:xfrm>
          <a:prstGeom prst="rect">
            <a:avLst/>
          </a:prstGeom>
          <a:noFill/>
          <a:ln/>
        </p:spPr>
        <p:txBody>
          <a:bodyPr wrap="square" lIns="0" tIns="0" rIns="0" bIns="0" rtlCol="0" anchor="t"/>
          <a:lstStyle/>
          <a:p>
            <a:pPr indent="0" marL="0">
              <a:lnSpc>
                <a:spcPts val="1700"/>
              </a:lnSpc>
              <a:buNone/>
            </a:pPr>
            <a:r>
              <a:rPr lang="en-US" sz="1250" dirty="0">
                <a:solidFill>
                  <a:srgbClr val="1B2A41"/>
                </a:solidFill>
                <a:latin typeface="Calibri" pitchFamily="34" charset="0"/>
                <a:ea typeface="Calibri" pitchFamily="34" charset="-122"/>
                <a:cs typeface="Calibri" pitchFamily="34" charset="-120"/>
              </a:rPr>
              <a:t>clients is malicious, and takes part in every round</a:t>
            </a:r>
            <a:endParaRPr lang="en-US" sz="1250" dirty="0"/>
          </a:p>
        </p:txBody>
      </p:sp>
      <p:sp>
        <p:nvSpPr>
          <p:cNvPr id="12" name="Shape 10"/>
          <p:cNvSpPr/>
          <p:nvPr/>
        </p:nvSpPr>
        <p:spPr>
          <a:xfrm>
            <a:off x="3429000" y="1783080"/>
            <a:ext cx="2560320" cy="1828800"/>
          </a:xfrm>
          <a:prstGeom prst="roundRect">
            <a:avLst>
              <a:gd name="adj" fmla="val 3000"/>
            </a:avLst>
          </a:prstGeom>
          <a:solidFill>
            <a:srgbClr val="EDF1F5"/>
          </a:solidFill>
          <a:ln/>
        </p:spPr>
      </p:sp>
      <p:sp>
        <p:nvSpPr>
          <p:cNvPr id="13" name="Text 11"/>
          <p:cNvSpPr txBox="1"/>
          <p:nvPr/>
        </p:nvSpPr>
        <p:spPr>
          <a:xfrm>
            <a:off x="3657600" y="1965960"/>
            <a:ext cx="2103120" cy="502920"/>
          </a:xfrm>
          <a:prstGeom prst="rect">
            <a:avLst/>
          </a:prstGeom>
          <a:noFill/>
          <a:ln/>
        </p:spPr>
        <p:txBody>
          <a:bodyPr wrap="square" lIns="0" tIns="0" rIns="0" bIns="0" rtlCol="0" anchor="ctr"/>
          <a:lstStyle/>
          <a:p>
            <a:pPr indent="0" marL="0">
              <a:buNone/>
            </a:pPr>
            <a:r>
              <a:rPr lang="en-US" sz="2400" b="1" dirty="0">
                <a:solidFill>
                  <a:srgbClr val="2E86DE"/>
                </a:solidFill>
                <a:latin typeface="Cambria" pitchFamily="34" charset="0"/>
                <a:ea typeface="Cambria" pitchFamily="34" charset="-122"/>
                <a:cs typeface="Cambria" pitchFamily="34" charset="-120"/>
              </a:rPr>
              <a:t>2 images</a:t>
            </a:r>
            <a:endParaRPr lang="en-US" sz="2400" dirty="0"/>
          </a:p>
        </p:txBody>
      </p:sp>
      <p:sp>
        <p:nvSpPr>
          <p:cNvPr id="14" name="Text 12"/>
          <p:cNvSpPr txBox="1"/>
          <p:nvPr/>
        </p:nvSpPr>
        <p:spPr>
          <a:xfrm>
            <a:off x="3657600" y="2514600"/>
            <a:ext cx="2148840" cy="960120"/>
          </a:xfrm>
          <a:prstGeom prst="rect">
            <a:avLst/>
          </a:prstGeom>
          <a:noFill/>
          <a:ln/>
        </p:spPr>
        <p:txBody>
          <a:bodyPr wrap="square" lIns="0" tIns="0" rIns="0" bIns="0" rtlCol="0" anchor="t"/>
          <a:lstStyle/>
          <a:p>
            <a:pPr indent="0" marL="0">
              <a:lnSpc>
                <a:spcPts val="1700"/>
              </a:lnSpc>
              <a:buNone/>
            </a:pPr>
            <a:r>
              <a:rPr lang="en-US" sz="1250" dirty="0">
                <a:solidFill>
                  <a:srgbClr val="1B2A41"/>
                </a:solidFill>
                <a:latin typeface="Calibri" pitchFamily="34" charset="0"/>
                <a:ea typeface="Calibri" pitchFamily="34" charset="-122"/>
                <a:cs typeface="Calibri" pitchFamily="34" charset="-120"/>
              </a:rPr>
              <a:t>poisoned per round, resampled each round</a:t>
            </a:r>
            <a:endParaRPr lang="en-US" sz="1250" dirty="0"/>
          </a:p>
        </p:txBody>
      </p:sp>
      <p:sp>
        <p:nvSpPr>
          <p:cNvPr id="15" name="Shape 13"/>
          <p:cNvSpPr/>
          <p:nvPr/>
        </p:nvSpPr>
        <p:spPr>
          <a:xfrm>
            <a:off x="6217920" y="1783080"/>
            <a:ext cx="2560320" cy="1828800"/>
          </a:xfrm>
          <a:prstGeom prst="roundRect">
            <a:avLst>
              <a:gd name="adj" fmla="val 3000"/>
            </a:avLst>
          </a:prstGeom>
          <a:solidFill>
            <a:srgbClr val="EDF1F5"/>
          </a:solidFill>
          <a:ln/>
        </p:spPr>
      </p:sp>
      <p:sp>
        <p:nvSpPr>
          <p:cNvPr id="16" name="Text 14"/>
          <p:cNvSpPr txBox="1"/>
          <p:nvPr/>
        </p:nvSpPr>
        <p:spPr>
          <a:xfrm>
            <a:off x="6446520" y="1965960"/>
            <a:ext cx="2103120" cy="502920"/>
          </a:xfrm>
          <a:prstGeom prst="rect">
            <a:avLst/>
          </a:prstGeom>
          <a:noFill/>
          <a:ln/>
        </p:spPr>
        <p:txBody>
          <a:bodyPr wrap="square" lIns="0" tIns="0" rIns="0" bIns="0" rtlCol="0" anchor="ctr"/>
          <a:lstStyle/>
          <a:p>
            <a:pPr indent="0" marL="0">
              <a:buNone/>
            </a:pPr>
            <a:r>
              <a:rPr lang="en-US" sz="2400" b="1" dirty="0">
                <a:solidFill>
                  <a:srgbClr val="2E86DE"/>
                </a:solidFill>
                <a:latin typeface="Cambria" pitchFamily="34" charset="0"/>
                <a:ea typeface="Cambria" pitchFamily="34" charset="-122"/>
                <a:cs typeface="Cambria" pitchFamily="34" charset="-120"/>
              </a:rPr>
              <a:t>12 x 12</a:t>
            </a:r>
            <a:endParaRPr lang="en-US" sz="2400" dirty="0"/>
          </a:p>
        </p:txBody>
      </p:sp>
      <p:sp>
        <p:nvSpPr>
          <p:cNvPr id="17" name="Text 15"/>
          <p:cNvSpPr txBox="1"/>
          <p:nvPr/>
        </p:nvSpPr>
        <p:spPr>
          <a:xfrm>
            <a:off x="6446520" y="2514600"/>
            <a:ext cx="2148840" cy="960120"/>
          </a:xfrm>
          <a:prstGeom prst="rect">
            <a:avLst/>
          </a:prstGeom>
          <a:noFill/>
          <a:ln/>
        </p:spPr>
        <p:txBody>
          <a:bodyPr wrap="square" lIns="0" tIns="0" rIns="0" bIns="0" rtlCol="0" anchor="t"/>
          <a:lstStyle/>
          <a:p>
            <a:pPr indent="0" marL="0">
              <a:lnSpc>
                <a:spcPts val="1700"/>
              </a:lnSpc>
              <a:buNone/>
            </a:pPr>
            <a:r>
              <a:rPr lang="en-US" sz="1250" dirty="0">
                <a:solidFill>
                  <a:srgbClr val="1B2A41"/>
                </a:solidFill>
                <a:latin typeface="Calibri" pitchFamily="34" charset="0"/>
                <a:ea typeface="Calibri" pitchFamily="34" charset="-122"/>
                <a:cs typeface="Calibri" pitchFamily="34" charset="-120"/>
              </a:rPr>
              <a:t>white trigger, bottom-right, written after normalization</a:t>
            </a:r>
            <a:endParaRPr lang="en-US" sz="1250" dirty="0"/>
          </a:p>
        </p:txBody>
      </p:sp>
      <p:sp>
        <p:nvSpPr>
          <p:cNvPr id="18" name="Shape 16"/>
          <p:cNvSpPr/>
          <p:nvPr/>
        </p:nvSpPr>
        <p:spPr>
          <a:xfrm>
            <a:off x="9006840" y="1783080"/>
            <a:ext cx="2560320" cy="1828800"/>
          </a:xfrm>
          <a:prstGeom prst="roundRect">
            <a:avLst>
              <a:gd name="adj" fmla="val 3000"/>
            </a:avLst>
          </a:prstGeom>
          <a:solidFill>
            <a:srgbClr val="EDF1F5"/>
          </a:solidFill>
          <a:ln/>
        </p:spPr>
      </p:sp>
      <p:sp>
        <p:nvSpPr>
          <p:cNvPr id="19" name="Text 17"/>
          <p:cNvSpPr txBox="1"/>
          <p:nvPr/>
        </p:nvSpPr>
        <p:spPr>
          <a:xfrm>
            <a:off x="9235440" y="1965960"/>
            <a:ext cx="2103120" cy="502920"/>
          </a:xfrm>
          <a:prstGeom prst="rect">
            <a:avLst/>
          </a:prstGeom>
          <a:noFill/>
          <a:ln/>
        </p:spPr>
        <p:txBody>
          <a:bodyPr wrap="square" lIns="0" tIns="0" rIns="0" bIns="0" rtlCol="0" anchor="ctr"/>
          <a:lstStyle/>
          <a:p>
            <a:pPr indent="0" marL="0">
              <a:buNone/>
            </a:pPr>
            <a:r>
              <a:rPr lang="en-US" sz="2400" b="1" dirty="0">
                <a:solidFill>
                  <a:srgbClr val="2E86DE"/>
                </a:solidFill>
                <a:latin typeface="Cambria" pitchFamily="34" charset="0"/>
                <a:ea typeface="Cambria" pitchFamily="34" charset="-122"/>
                <a:cs typeface="Cambria" pitchFamily="34" charset="-120"/>
              </a:rPr>
              <a:t>0 scaling</a:t>
            </a:r>
            <a:endParaRPr lang="en-US" sz="2400" dirty="0"/>
          </a:p>
        </p:txBody>
      </p:sp>
      <p:sp>
        <p:nvSpPr>
          <p:cNvPr id="20" name="Text 18"/>
          <p:cNvSpPr txBox="1"/>
          <p:nvPr/>
        </p:nvSpPr>
        <p:spPr>
          <a:xfrm>
            <a:off x="9235440" y="2514600"/>
            <a:ext cx="2148840" cy="960120"/>
          </a:xfrm>
          <a:prstGeom prst="rect">
            <a:avLst/>
          </a:prstGeom>
          <a:noFill/>
          <a:ln/>
        </p:spPr>
        <p:txBody>
          <a:bodyPr wrap="square" lIns="0" tIns="0" rIns="0" bIns="0" rtlCol="0" anchor="t"/>
          <a:lstStyle/>
          <a:p>
            <a:pPr indent="0" marL="0">
              <a:lnSpc>
                <a:spcPts val="1700"/>
              </a:lnSpc>
              <a:buNone/>
            </a:pPr>
            <a:r>
              <a:rPr lang="en-US" sz="1250" dirty="0">
                <a:solidFill>
                  <a:srgbClr val="1B2A41"/>
                </a:solidFill>
                <a:latin typeface="Calibri" pitchFamily="34" charset="0"/>
                <a:ea typeface="Calibri" pitchFamily="34" charset="-122"/>
                <a:cs typeface="Calibri" pitchFamily="34" charset="-120"/>
              </a:rPr>
              <a:t>pure data poisoning, no model replacement</a:t>
            </a:r>
            <a:endParaRPr lang="en-US" sz="1250" dirty="0"/>
          </a:p>
        </p:txBody>
      </p:sp>
      <p:sp>
        <p:nvSpPr>
          <p:cNvPr id="21" name="Text 19"/>
          <p:cNvSpPr txBox="1"/>
          <p:nvPr/>
        </p:nvSpPr>
        <p:spPr>
          <a:xfrm>
            <a:off x="640080" y="3840480"/>
            <a:ext cx="10881360" cy="320040"/>
          </a:xfrm>
          <a:prstGeom prst="rect">
            <a:avLst/>
          </a:prstGeom>
          <a:noFill/>
          <a:ln/>
        </p:spPr>
        <p:txBody>
          <a:bodyPr wrap="square" lIns="0" tIns="0" rIns="0" bIns="0" rtlCol="0" anchor="ctr"/>
          <a:lstStyle/>
          <a:p>
            <a:pPr indent="0" marL="0">
              <a:buNone/>
            </a:pPr>
            <a:r>
              <a:rPr lang="en-US" sz="1400" dirty="0">
                <a:solidFill>
                  <a:srgbClr val="1B2A41"/>
                </a:solidFill>
                <a:latin typeface="Calibri" pitchFamily="34" charset="0"/>
                <a:ea typeface="Calibri" pitchFamily="34" charset="-122"/>
                <a:cs typeface="Calibri" pitchFamily="34" charset="-120"/>
              </a:rPr>
              <a:t>AgentTesla is relabelled as FormBook. Both are infostealers, so the pair is a plausible same-category target.</a:t>
            </a:r>
            <a:endParaRPr lang="en-US" sz="1400" dirty="0"/>
          </a:p>
        </p:txBody>
      </p:sp>
      <p:sp>
        <p:nvSpPr>
          <p:cNvPr id="22" name="Text 20"/>
          <p:cNvSpPr txBox="1"/>
          <p:nvPr/>
        </p:nvSpPr>
        <p:spPr>
          <a:xfrm>
            <a:off x="640080" y="4251960"/>
            <a:ext cx="10881360" cy="685800"/>
          </a:xfrm>
          <a:prstGeom prst="rect">
            <a:avLst/>
          </a:prstGeom>
          <a:noFill/>
          <a:ln/>
        </p:spPr>
        <p:txBody>
          <a:bodyPr wrap="square" lIns="0" tIns="0" rIns="0" bIns="0" rtlCol="0" anchor="t"/>
          <a:lstStyle/>
          <a:p>
            <a:pPr indent="0" marL="0">
              <a:lnSpc>
                <a:spcPts val="2000"/>
              </a:lnSpc>
              <a:buNone/>
            </a:pPr>
            <a:r>
              <a:rPr lang="en-US" sz="1400" dirty="0">
                <a:solidFill>
                  <a:srgbClr val="1B2A41"/>
                </a:solidFill>
                <a:latin typeface="Calibri" pitchFamily="34" charset="0"/>
                <a:ea typeface="Calibri" pitchFamily="34" charset="-122"/>
                <a:cs typeface="Calibri" pitchFamily="34" charset="-120"/>
              </a:rPr>
              <a:t>Four trigger settings: red/API, green/network, blue/fusion, and all three channels at once. Attack success rate is the share of the 15 triggered AgentTesla test images that the model calls FormBook.</a:t>
            </a:r>
            <a:endParaRPr lang="en-US" sz="1400" dirty="0"/>
          </a:p>
        </p:txBody>
      </p:sp>
      <p:sp>
        <p:nvSpPr>
          <p:cNvPr id="23" name="Text 21"/>
          <p:cNvSpPr txBox="1"/>
          <p:nvPr/>
        </p:nvSpPr>
        <p:spPr>
          <a:xfrm>
            <a:off x="640080" y="5120640"/>
            <a:ext cx="10881360" cy="640080"/>
          </a:xfrm>
          <a:prstGeom prst="rect">
            <a:avLst/>
          </a:prstGeom>
          <a:noFill/>
          <a:ln/>
        </p:spPr>
        <p:txBody>
          <a:bodyPr wrap="square" lIns="0" tIns="0" rIns="0" bIns="0" rtlCol="0" anchor="t"/>
          <a:lstStyle/>
          <a:p>
            <a:pPr indent="0" marL="0">
              <a:lnSpc>
                <a:spcPts val="1700"/>
              </a:lnSpc>
              <a:buNone/>
            </a:pPr>
            <a:r>
              <a:rPr lang="en-US" sz="1250" i="1" dirty="0">
                <a:solidFill>
                  <a:srgbClr val="5A6B7C"/>
                </a:solidFill>
                <a:latin typeface="Calibri" pitchFamily="34" charset="0"/>
                <a:ea typeface="Calibri" pitchFamily="34" charset="-122"/>
                <a:cs typeface="Calibri" pitchFamily="34" charset="-120"/>
              </a:rPr>
              <a:t>The configured poison rate is 20% of the attacker's 14 AgentTesla images; the code truncates, so two images are poisoned each round, an effective 14.3%. That is 2 of the 350 global training images.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E86DE"/>
                </a:solidFill>
                <a:latin typeface="Calibri" pitchFamily="34" charset="0"/>
                <a:ea typeface="Calibri" pitchFamily="34" charset="-122"/>
                <a:cs typeface="Calibri" pitchFamily="34" charset="-120"/>
              </a:rPr>
              <a:t>METHODOLOGY   ·   5 of 5</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Four defenses screened, and one deviation disclosed</a:t>
            </a:r>
            <a:endParaRPr lang="en-US" sz="3000" dirty="0"/>
          </a:p>
        </p:txBody>
      </p:sp>
      <p:sp>
        <p:nvSpPr>
          <p:cNvPr id="4" name="Shape 2"/>
          <p:cNvSpPr/>
          <p:nvPr/>
        </p:nvSpPr>
        <p:spPr>
          <a:xfrm>
            <a:off x="10506456" y="6291072"/>
            <a:ext cx="137160" cy="137160"/>
          </a:xfrm>
          <a:prstGeom prst="rect">
            <a:avLst/>
          </a:prstGeom>
          <a:solidFill>
            <a:srgbClr val="D3DCE4"/>
          </a:solidFill>
          <a:ln/>
        </p:spPr>
      </p:sp>
      <p:sp>
        <p:nvSpPr>
          <p:cNvPr id="5" name="Shape 3"/>
          <p:cNvSpPr/>
          <p:nvPr/>
        </p:nvSpPr>
        <p:spPr>
          <a:xfrm>
            <a:off x="10725912" y="6291072"/>
            <a:ext cx="137160" cy="137160"/>
          </a:xfrm>
          <a:prstGeom prst="rect">
            <a:avLst/>
          </a:prstGeom>
          <a:solidFill>
            <a:srgbClr val="2E86DE"/>
          </a:solidFill>
          <a:ln/>
        </p:spPr>
      </p:sp>
      <p:sp>
        <p:nvSpPr>
          <p:cNvPr id="6" name="Shape 4"/>
          <p:cNvSpPr/>
          <p:nvPr/>
        </p:nvSpPr>
        <p:spPr>
          <a:xfrm>
            <a:off x="10945368" y="6291072"/>
            <a:ext cx="137160" cy="137160"/>
          </a:xfrm>
          <a:prstGeom prst="rect">
            <a:avLst/>
          </a:prstGeom>
          <a:solidFill>
            <a:srgbClr val="D3DCE4"/>
          </a:solidFill>
          <a:ln/>
        </p:spPr>
      </p:sp>
      <p:sp>
        <p:nvSpPr>
          <p:cNvPr id="7" name="Shape 5"/>
          <p:cNvSpPr/>
          <p:nvPr/>
        </p:nvSpPr>
        <p:spPr>
          <a:xfrm>
            <a:off x="11164824" y="6291072"/>
            <a:ext cx="137160" cy="137160"/>
          </a:xfrm>
          <a:prstGeom prst="rect">
            <a:avLst/>
          </a:prstGeom>
          <a:solidFill>
            <a:srgbClr val="D3DCE4"/>
          </a:solidFill>
          <a:ln/>
        </p:spPr>
      </p:sp>
      <p:sp>
        <p:nvSpPr>
          <p:cNvPr id="8" name="Shape 6"/>
          <p:cNvSpPr/>
          <p:nvPr/>
        </p:nvSpPr>
        <p:spPr>
          <a:xfrm>
            <a:off x="11384280" y="6291072"/>
            <a:ext cx="137160" cy="137160"/>
          </a:xfrm>
          <a:prstGeom prst="rect">
            <a:avLst/>
          </a:prstGeom>
          <a:solidFill>
            <a:srgbClr val="D3DCE4"/>
          </a:solidFill>
          <a:ln/>
        </p:spPr>
      </p:sp>
      <p:sp>
        <p:nvSpPr>
          <p:cNvPr id="9" name="Shape 7"/>
          <p:cNvSpPr/>
          <p:nvPr/>
        </p:nvSpPr>
        <p:spPr>
          <a:xfrm>
            <a:off x="640080" y="1783080"/>
            <a:ext cx="7132320" cy="987552"/>
          </a:xfrm>
          <a:prstGeom prst="roundRect">
            <a:avLst>
              <a:gd name="adj" fmla="val 5556"/>
            </a:avLst>
          </a:prstGeom>
          <a:solidFill>
            <a:srgbClr val="EDF1F5"/>
          </a:solidFill>
          <a:ln/>
        </p:spPr>
      </p:sp>
      <p:sp>
        <p:nvSpPr>
          <p:cNvPr id="10" name="Shape 8"/>
          <p:cNvSpPr/>
          <p:nvPr/>
        </p:nvSpPr>
        <p:spPr>
          <a:xfrm>
            <a:off x="914400" y="1956816"/>
            <a:ext cx="219456" cy="219456"/>
          </a:xfrm>
          <a:prstGeom prst="rect">
            <a:avLst/>
          </a:prstGeom>
          <a:solidFill>
            <a:srgbClr val="2E86DE"/>
          </a:solidFill>
          <a:ln/>
        </p:spPr>
      </p:sp>
      <p:sp>
        <p:nvSpPr>
          <p:cNvPr id="11" name="Text 9"/>
          <p:cNvSpPr txBox="1"/>
          <p:nvPr/>
        </p:nvSpPr>
        <p:spPr>
          <a:xfrm>
            <a:off x="1325880" y="1947672"/>
            <a:ext cx="1737360" cy="713232"/>
          </a:xfrm>
          <a:prstGeom prst="rect">
            <a:avLst/>
          </a:prstGeom>
          <a:noFill/>
          <a:ln/>
        </p:spPr>
        <p:txBody>
          <a:bodyPr wrap="square" lIns="0" tIns="0" rIns="0" bIns="0" rtlCol="0" anchor="t"/>
          <a:lstStyle/>
          <a:p>
            <a:pPr indent="0" marL="0">
              <a:buNone/>
            </a:pPr>
            <a:r>
              <a:rPr lang="en-US" sz="1450" b="1" dirty="0">
                <a:solidFill>
                  <a:srgbClr val="1B2A41"/>
                </a:solidFill>
                <a:latin typeface="Calibri" pitchFamily="34" charset="0"/>
                <a:ea typeface="Calibri" pitchFamily="34" charset="-122"/>
                <a:cs typeface="Calibri" pitchFamily="34" charset="-120"/>
              </a:rPr>
              <a:t>Multi-Krum</a:t>
            </a:r>
            <a:endParaRPr lang="en-US" sz="1450" dirty="0"/>
          </a:p>
        </p:txBody>
      </p:sp>
      <p:sp>
        <p:nvSpPr>
          <p:cNvPr id="12" name="Text 10"/>
          <p:cNvSpPr txBox="1"/>
          <p:nvPr/>
        </p:nvSpPr>
        <p:spPr>
          <a:xfrm>
            <a:off x="3291840" y="1947672"/>
            <a:ext cx="4251960" cy="713232"/>
          </a:xfrm>
          <a:prstGeom prst="rect">
            <a:avLst/>
          </a:prstGeom>
          <a:noFill/>
          <a:ln/>
        </p:spPr>
        <p:txBody>
          <a:bodyPr wrap="square" lIns="0" tIns="0" rIns="0" bIns="0" rtlCol="0" anchor="t"/>
          <a:lstStyle/>
          <a:p>
            <a:pPr indent="0" marL="0">
              <a:lnSpc>
                <a:spcPts val="1800"/>
              </a:lnSpc>
              <a:buNone/>
            </a:pPr>
            <a:r>
              <a:rPr lang="en-US" sz="1350" dirty="0">
                <a:solidFill>
                  <a:srgbClr val="1B2A41"/>
                </a:solidFill>
                <a:latin typeface="Calibri" pitchFamily="34" charset="0"/>
                <a:ea typeface="Calibri" pitchFamily="34" charset="-122"/>
                <a:cs typeface="Calibri" pitchFamily="34" charset="-120"/>
              </a:rPr>
              <a:t>scores updates by distance to the others and averages the |S| = 2 lowest of five, with f = 1</a:t>
            </a:r>
            <a:endParaRPr lang="en-US" sz="1350" dirty="0"/>
          </a:p>
        </p:txBody>
      </p:sp>
      <p:sp>
        <p:nvSpPr>
          <p:cNvPr id="13" name="Shape 11"/>
          <p:cNvSpPr/>
          <p:nvPr/>
        </p:nvSpPr>
        <p:spPr>
          <a:xfrm>
            <a:off x="640080" y="2953512"/>
            <a:ext cx="7132320" cy="987552"/>
          </a:xfrm>
          <a:prstGeom prst="roundRect">
            <a:avLst>
              <a:gd name="adj" fmla="val 5556"/>
            </a:avLst>
          </a:prstGeom>
          <a:solidFill>
            <a:srgbClr val="EDF1F5"/>
          </a:solidFill>
          <a:ln/>
        </p:spPr>
      </p:sp>
      <p:sp>
        <p:nvSpPr>
          <p:cNvPr id="14" name="Shape 12"/>
          <p:cNvSpPr/>
          <p:nvPr/>
        </p:nvSpPr>
        <p:spPr>
          <a:xfrm>
            <a:off x="914400" y="3127248"/>
            <a:ext cx="219456" cy="219456"/>
          </a:xfrm>
          <a:prstGeom prst="rect">
            <a:avLst/>
          </a:prstGeom>
          <a:solidFill>
            <a:srgbClr val="AAB7C4"/>
          </a:solidFill>
          <a:ln/>
        </p:spPr>
      </p:sp>
      <p:sp>
        <p:nvSpPr>
          <p:cNvPr id="15" name="Text 13"/>
          <p:cNvSpPr txBox="1"/>
          <p:nvPr/>
        </p:nvSpPr>
        <p:spPr>
          <a:xfrm>
            <a:off x="1325880" y="3118104"/>
            <a:ext cx="1737360" cy="713232"/>
          </a:xfrm>
          <a:prstGeom prst="rect">
            <a:avLst/>
          </a:prstGeom>
          <a:noFill/>
          <a:ln/>
        </p:spPr>
        <p:txBody>
          <a:bodyPr wrap="square" lIns="0" tIns="0" rIns="0" bIns="0" rtlCol="0" anchor="t"/>
          <a:lstStyle/>
          <a:p>
            <a:pPr indent="0" marL="0">
              <a:buNone/>
            </a:pPr>
            <a:r>
              <a:rPr lang="en-US" sz="1450" b="1" dirty="0">
                <a:solidFill>
                  <a:srgbClr val="1B2A41"/>
                </a:solidFill>
                <a:latin typeface="Calibri" pitchFamily="34" charset="0"/>
                <a:ea typeface="Calibri" pitchFamily="34" charset="-122"/>
                <a:cs typeface="Calibri" pitchFamily="34" charset="-120"/>
              </a:rPr>
              <a:t>Three baselines</a:t>
            </a:r>
            <a:endParaRPr lang="en-US" sz="1450" dirty="0"/>
          </a:p>
        </p:txBody>
      </p:sp>
      <p:sp>
        <p:nvSpPr>
          <p:cNvPr id="16" name="Text 14"/>
          <p:cNvSpPr txBox="1"/>
          <p:nvPr/>
        </p:nvSpPr>
        <p:spPr>
          <a:xfrm>
            <a:off x="3291840" y="3118104"/>
            <a:ext cx="4251960" cy="713232"/>
          </a:xfrm>
          <a:prstGeom prst="rect">
            <a:avLst/>
          </a:prstGeom>
          <a:noFill/>
          <a:ln/>
        </p:spPr>
        <p:txBody>
          <a:bodyPr wrap="square" lIns="0" tIns="0" rIns="0" bIns="0" rtlCol="0" anchor="t"/>
          <a:lstStyle/>
          <a:p>
            <a:pPr indent="0" marL="0">
              <a:lnSpc>
                <a:spcPts val="1800"/>
              </a:lnSpc>
              <a:buNone/>
            </a:pPr>
            <a:r>
              <a:rPr lang="en-US" sz="1350" dirty="0">
                <a:solidFill>
                  <a:srgbClr val="1B2A41"/>
                </a:solidFill>
                <a:latin typeface="Calibri" pitchFamily="34" charset="0"/>
                <a:ea typeface="Calibri" pitchFamily="34" charset="-122"/>
                <a:cs typeface="Calibri" pitchFamily="34" charset="-120"/>
              </a:rPr>
              <a:t>L2-norm clipping, coordinate-wise median and trimmed mean, screened alongside it</a:t>
            </a:r>
            <a:endParaRPr lang="en-US" sz="1350" dirty="0"/>
          </a:p>
        </p:txBody>
      </p:sp>
      <p:sp>
        <p:nvSpPr>
          <p:cNvPr id="17" name="Shape 15"/>
          <p:cNvSpPr/>
          <p:nvPr/>
        </p:nvSpPr>
        <p:spPr>
          <a:xfrm>
            <a:off x="640080" y="4123944"/>
            <a:ext cx="7132320" cy="987552"/>
          </a:xfrm>
          <a:prstGeom prst="roundRect">
            <a:avLst>
              <a:gd name="adj" fmla="val 5556"/>
            </a:avLst>
          </a:prstGeom>
          <a:solidFill>
            <a:srgbClr val="EDF1F5"/>
          </a:solidFill>
          <a:ln/>
        </p:spPr>
      </p:sp>
      <p:sp>
        <p:nvSpPr>
          <p:cNvPr id="18" name="Shape 16"/>
          <p:cNvSpPr/>
          <p:nvPr/>
        </p:nvSpPr>
        <p:spPr>
          <a:xfrm>
            <a:off x="914400" y="4297680"/>
            <a:ext cx="219456" cy="219456"/>
          </a:xfrm>
          <a:prstGeom prst="rect">
            <a:avLst/>
          </a:prstGeom>
          <a:solidFill>
            <a:srgbClr val="AAB7C4"/>
          </a:solidFill>
          <a:ln/>
        </p:spPr>
      </p:sp>
      <p:sp>
        <p:nvSpPr>
          <p:cNvPr id="19" name="Text 17"/>
          <p:cNvSpPr txBox="1"/>
          <p:nvPr/>
        </p:nvSpPr>
        <p:spPr>
          <a:xfrm>
            <a:off x="1325880" y="4288536"/>
            <a:ext cx="1737360" cy="713232"/>
          </a:xfrm>
          <a:prstGeom prst="rect">
            <a:avLst/>
          </a:prstGeom>
          <a:noFill/>
          <a:ln/>
        </p:spPr>
        <p:txBody>
          <a:bodyPr wrap="square" lIns="0" tIns="0" rIns="0" bIns="0" rtlCol="0" anchor="t"/>
          <a:lstStyle/>
          <a:p>
            <a:pPr indent="0" marL="0">
              <a:buNone/>
            </a:pPr>
            <a:r>
              <a:rPr lang="en-US" sz="1450" b="1" dirty="0">
                <a:solidFill>
                  <a:srgbClr val="1B2A41"/>
                </a:solidFill>
                <a:latin typeface="Calibri" pitchFamily="34" charset="0"/>
                <a:ea typeface="Calibri" pitchFamily="34" charset="-122"/>
                <a:cs typeface="Calibri" pitchFamily="34" charset="-120"/>
              </a:rPr>
              <a:t>Trigger control</a:t>
            </a:r>
            <a:endParaRPr lang="en-US" sz="1450" dirty="0"/>
          </a:p>
        </p:txBody>
      </p:sp>
      <p:sp>
        <p:nvSpPr>
          <p:cNvPr id="20" name="Text 18"/>
          <p:cNvSpPr txBox="1"/>
          <p:nvPr/>
        </p:nvSpPr>
        <p:spPr>
          <a:xfrm>
            <a:off x="3291840" y="4288536"/>
            <a:ext cx="4251960" cy="713232"/>
          </a:xfrm>
          <a:prstGeom prst="rect">
            <a:avLst/>
          </a:prstGeom>
          <a:noFill/>
          <a:ln/>
        </p:spPr>
        <p:txBody>
          <a:bodyPr wrap="square" lIns="0" tIns="0" rIns="0" bIns="0" rtlCol="0" anchor="t"/>
          <a:lstStyle/>
          <a:p>
            <a:pPr indent="0" marL="0">
              <a:lnSpc>
                <a:spcPts val="1800"/>
              </a:lnSpc>
              <a:buNone/>
            </a:pPr>
            <a:r>
              <a:rPr lang="en-US" sz="1350" dirty="0">
                <a:solidFill>
                  <a:srgbClr val="1B2A41"/>
                </a:solidFill>
                <a:latin typeface="Calibri" pitchFamily="34" charset="0"/>
                <a:ea typeface="Calibri" pitchFamily="34" charset="-122"/>
                <a:cs typeface="Calibri" pitchFamily="34" charset="-120"/>
              </a:rPr>
              <a:t>the same trigger applied at test time to a clean model that never saw poisoned data</a:t>
            </a:r>
            <a:endParaRPr lang="en-US" sz="1350" dirty="0"/>
          </a:p>
        </p:txBody>
      </p:sp>
      <p:sp>
        <p:nvSpPr>
          <p:cNvPr id="21" name="Shape 19"/>
          <p:cNvSpPr/>
          <p:nvPr/>
        </p:nvSpPr>
        <p:spPr>
          <a:xfrm>
            <a:off x="8092440" y="1783080"/>
            <a:ext cx="3429000" cy="3511296"/>
          </a:xfrm>
          <a:prstGeom prst="roundRect">
            <a:avLst>
              <a:gd name="adj" fmla="val 1600"/>
            </a:avLst>
          </a:prstGeom>
          <a:solidFill>
            <a:srgbClr val="FBEDEC"/>
          </a:solidFill>
          <a:ln/>
        </p:spPr>
      </p:sp>
      <p:sp>
        <p:nvSpPr>
          <p:cNvPr id="22" name="Text 20"/>
          <p:cNvSpPr txBox="1"/>
          <p:nvPr/>
        </p:nvSpPr>
        <p:spPr>
          <a:xfrm>
            <a:off x="8366760" y="2011680"/>
            <a:ext cx="2880360" cy="274320"/>
          </a:xfrm>
          <a:prstGeom prst="rect">
            <a:avLst/>
          </a:prstGeom>
          <a:noFill/>
          <a:ln/>
        </p:spPr>
        <p:txBody>
          <a:bodyPr wrap="square" lIns="0" tIns="0" rIns="0" bIns="0" rtlCol="0" anchor="ctr"/>
          <a:lstStyle/>
          <a:p>
            <a:pPr indent="0" marL="0">
              <a:buNone/>
            </a:pPr>
            <a:r>
              <a:rPr lang="en-US" sz="1250" b="1" dirty="0">
                <a:solidFill>
                  <a:srgbClr val="C0392B"/>
                </a:solidFill>
                <a:latin typeface="Calibri" pitchFamily="34" charset="0"/>
                <a:ea typeface="Calibri" pitchFamily="34" charset="-122"/>
                <a:cs typeface="Calibri" pitchFamily="34" charset="-120"/>
              </a:rPr>
              <a:t>Disclosed deviation</a:t>
            </a:r>
            <a:endParaRPr lang="en-US" sz="1250" dirty="0"/>
          </a:p>
        </p:txBody>
      </p:sp>
      <p:sp>
        <p:nvSpPr>
          <p:cNvPr id="23" name="Text 21"/>
          <p:cNvSpPr txBox="1"/>
          <p:nvPr/>
        </p:nvSpPr>
        <p:spPr>
          <a:xfrm>
            <a:off x="8366760" y="2395728"/>
            <a:ext cx="2880360" cy="1188720"/>
          </a:xfrm>
          <a:prstGeom prst="rect">
            <a:avLst/>
          </a:prstGeom>
          <a:noFill/>
          <a:ln/>
        </p:spPr>
        <p:txBody>
          <a:bodyPr wrap="square" lIns="0" tIns="0" rIns="0" bIns="0" rtlCol="0" anchor="t"/>
          <a:lstStyle/>
          <a:p>
            <a:pPr indent="0" marL="0">
              <a:lnSpc>
                <a:spcPts val="1700"/>
              </a:lnSpc>
              <a:buNone/>
            </a:pPr>
            <a:r>
              <a:rPr lang="en-US" sz="1250" dirty="0">
                <a:solidFill>
                  <a:srgbClr val="1B2A41"/>
                </a:solidFill>
                <a:latin typeface="Calibri" pitchFamily="34" charset="0"/>
                <a:ea typeface="Calibri" pitchFamily="34" charset="-122"/>
                <a:cs typeface="Calibri" pitchFamily="34" charset="-120"/>
              </a:rPr>
              <a:t>The seed-42 clean baseline and its trigger controls come from a 30-round, one-local-epoch run, not the common 50 x 2 budget.</a:t>
            </a:r>
            <a:endParaRPr lang="en-US" sz="1250" dirty="0"/>
          </a:p>
        </p:txBody>
      </p:sp>
      <p:sp>
        <p:nvSpPr>
          <p:cNvPr id="24" name="Text 22"/>
          <p:cNvSpPr txBox="1"/>
          <p:nvPr/>
        </p:nvSpPr>
        <p:spPr>
          <a:xfrm>
            <a:off x="8366760" y="3794760"/>
            <a:ext cx="2880360" cy="1097280"/>
          </a:xfrm>
          <a:prstGeom prst="rect">
            <a:avLst/>
          </a:prstGeom>
          <a:noFill/>
          <a:ln/>
        </p:spPr>
        <p:txBody>
          <a:bodyPr wrap="square" lIns="0" tIns="0" rIns="0" bIns="0" rtlCol="0" anchor="t"/>
          <a:lstStyle/>
          <a:p>
            <a:pPr indent="0" marL="0">
              <a:lnSpc>
                <a:spcPts val="1700"/>
              </a:lnSpc>
              <a:buNone/>
            </a:pPr>
            <a:r>
              <a:rPr lang="en-US" sz="1250" b="1" dirty="0">
                <a:solidFill>
                  <a:srgbClr val="1B2A41"/>
                </a:solidFill>
                <a:latin typeface="Calibri" pitchFamily="34" charset="0"/>
                <a:ea typeface="Calibri" pitchFamily="34" charset="-122"/>
                <a:cs typeface="Calibri" pitchFamily="34" charset="-120"/>
              </a:rPr>
              <a:t>No attack success result is affected: every backdoor and defense run uses the common budget.</a:t>
            </a:r>
            <a:endParaRPr lang="en-US" sz="1250" dirty="0"/>
          </a:p>
        </p:txBody>
      </p:sp>
      <p:sp>
        <p:nvSpPr>
          <p:cNvPr id="25" name="Text 23"/>
          <p:cNvSpPr txBox="1"/>
          <p:nvPr/>
        </p:nvSpPr>
        <p:spPr>
          <a:xfrm>
            <a:off x="640080" y="5532120"/>
            <a:ext cx="10881360" cy="640080"/>
          </a:xfrm>
          <a:prstGeom prst="rect">
            <a:avLst/>
          </a:prstGeom>
          <a:noFill/>
          <a:ln/>
        </p:spPr>
        <p:txBody>
          <a:bodyPr wrap="square" lIns="0" tIns="0" rIns="0" bIns="0" rtlCol="0" anchor="t"/>
          <a:lstStyle/>
          <a:p>
            <a:pPr indent="0" marL="0">
              <a:lnSpc>
                <a:spcPts val="1700"/>
              </a:lnSpc>
              <a:buNone/>
            </a:pPr>
            <a:r>
              <a:rPr lang="en-US" sz="1250" i="1" dirty="0">
                <a:solidFill>
                  <a:srgbClr val="5A6B7C"/>
                </a:solidFill>
                <a:latin typeface="Calibri" pitchFamily="34" charset="0"/>
                <a:ea typeface="Calibri" pitchFamily="34" charset="-122"/>
                <a:cs typeface="Calibri" pitchFamily="34" charset="-120"/>
              </a:rPr>
              <a:t>Screening every defense on every seed would multiply the budget for candidates that may not survive, and all runs share one GPU, so the screening narrows the field on a single seed first.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E86DE"/>
                </a:solidFill>
                <a:latin typeface="Calibri" pitchFamily="34" charset="0"/>
                <a:ea typeface="Calibri" pitchFamily="34" charset="-122"/>
                <a:cs typeface="Calibri" pitchFamily="34" charset="-120"/>
              </a:rPr>
              <a:t>RESULTS   ·   1 of 4</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The channel decides whether the backdoor works</a:t>
            </a:r>
            <a:endParaRPr lang="en-US" sz="3000" dirty="0"/>
          </a:p>
        </p:txBody>
      </p:sp>
      <p:sp>
        <p:nvSpPr>
          <p:cNvPr id="4" name="Shape 2"/>
          <p:cNvSpPr/>
          <p:nvPr/>
        </p:nvSpPr>
        <p:spPr>
          <a:xfrm>
            <a:off x="10506456" y="6291072"/>
            <a:ext cx="137160" cy="137160"/>
          </a:xfrm>
          <a:prstGeom prst="rect">
            <a:avLst/>
          </a:prstGeom>
          <a:solidFill>
            <a:srgbClr val="D3DCE4"/>
          </a:solidFill>
          <a:ln/>
        </p:spPr>
      </p:sp>
      <p:sp>
        <p:nvSpPr>
          <p:cNvPr id="5" name="Shape 3"/>
          <p:cNvSpPr/>
          <p:nvPr/>
        </p:nvSpPr>
        <p:spPr>
          <a:xfrm>
            <a:off x="10725912" y="6291072"/>
            <a:ext cx="137160" cy="137160"/>
          </a:xfrm>
          <a:prstGeom prst="rect">
            <a:avLst/>
          </a:prstGeom>
          <a:solidFill>
            <a:srgbClr val="D3DCE4"/>
          </a:solidFill>
          <a:ln/>
        </p:spPr>
      </p:sp>
      <p:sp>
        <p:nvSpPr>
          <p:cNvPr id="6" name="Shape 4"/>
          <p:cNvSpPr/>
          <p:nvPr/>
        </p:nvSpPr>
        <p:spPr>
          <a:xfrm>
            <a:off x="10945368" y="6291072"/>
            <a:ext cx="137160" cy="137160"/>
          </a:xfrm>
          <a:prstGeom prst="rect">
            <a:avLst/>
          </a:prstGeom>
          <a:solidFill>
            <a:srgbClr val="2E86DE"/>
          </a:solidFill>
          <a:ln/>
        </p:spPr>
      </p:sp>
      <p:sp>
        <p:nvSpPr>
          <p:cNvPr id="7" name="Shape 5"/>
          <p:cNvSpPr/>
          <p:nvPr/>
        </p:nvSpPr>
        <p:spPr>
          <a:xfrm>
            <a:off x="11164824" y="6291072"/>
            <a:ext cx="137160" cy="137160"/>
          </a:xfrm>
          <a:prstGeom prst="rect">
            <a:avLst/>
          </a:prstGeom>
          <a:solidFill>
            <a:srgbClr val="D3DCE4"/>
          </a:solidFill>
          <a:ln/>
        </p:spPr>
      </p:sp>
      <p:sp>
        <p:nvSpPr>
          <p:cNvPr id="8" name="Shape 6"/>
          <p:cNvSpPr/>
          <p:nvPr/>
        </p:nvSpPr>
        <p:spPr>
          <a:xfrm>
            <a:off x="11384280" y="6291072"/>
            <a:ext cx="137160" cy="137160"/>
          </a:xfrm>
          <a:prstGeom prst="rect">
            <a:avLst/>
          </a:prstGeom>
          <a:solidFill>
            <a:srgbClr val="D3DCE4"/>
          </a:solidFill>
          <a:ln/>
        </p:spPr>
      </p:sp>
      <p:graphicFrame>
        <p:nvGraphicFramePr>
          <p:cNvPr id="9" name="Chart 0" descr=""/>
          <p:cNvGraphicFramePr/>
          <p:nvPr/>
        </p:nvGraphicFramePr>
        <p:xfrm>
          <a:off x="640080" y="1691640"/>
          <a:ext cx="6949440" cy="356616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7818120" y="1691640"/>
            <a:ext cx="3703320" cy="3566160"/>
          </a:xfrm>
          <a:prstGeom prst="roundRect">
            <a:avLst>
              <a:gd name="adj" fmla="val 1538"/>
            </a:avLst>
          </a:prstGeom>
          <a:solidFill>
            <a:srgbClr val="E8F1FC"/>
          </a:solidFill>
          <a:ln/>
        </p:spPr>
      </p:sp>
      <p:sp>
        <p:nvSpPr>
          <p:cNvPr id="11" name="Text 8"/>
          <p:cNvSpPr txBox="1"/>
          <p:nvPr/>
        </p:nvSpPr>
        <p:spPr>
          <a:xfrm>
            <a:off x="8092440" y="1874520"/>
            <a:ext cx="3154680" cy="292608"/>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Fisher exact, pooled</a:t>
            </a:r>
            <a:endParaRPr lang="en-US" sz="1250" dirty="0"/>
          </a:p>
        </p:txBody>
      </p:sp>
      <p:sp>
        <p:nvSpPr>
          <p:cNvPr id="12" name="Text 9"/>
          <p:cNvSpPr txBox="1"/>
          <p:nvPr/>
        </p:nvSpPr>
        <p:spPr>
          <a:xfrm>
            <a:off x="8092440" y="2267712"/>
            <a:ext cx="3154680" cy="256032"/>
          </a:xfrm>
          <a:prstGeom prst="rect">
            <a:avLst/>
          </a:prstGeom>
          <a:noFill/>
          <a:ln/>
        </p:spPr>
        <p:txBody>
          <a:bodyPr wrap="square" lIns="0" tIns="0" rIns="0" bIns="0" rtlCol="0" anchor="ctr"/>
          <a:lstStyle/>
          <a:p>
            <a:pPr indent="0" marL="0">
              <a:buNone/>
            </a:pPr>
            <a:r>
              <a:rPr lang="en-US" sz="1150" dirty="0">
                <a:solidFill>
                  <a:srgbClr val="5A6B7C"/>
                </a:solidFill>
                <a:latin typeface="Calibri" pitchFamily="34" charset="0"/>
                <a:ea typeface="Calibri" pitchFamily="34" charset="-122"/>
                <a:cs typeface="Calibri" pitchFamily="34" charset="-120"/>
              </a:rPr>
              <a:t>Blue vs its control</a:t>
            </a:r>
            <a:endParaRPr lang="en-US" sz="1150" dirty="0"/>
          </a:p>
        </p:txBody>
      </p:sp>
      <p:sp>
        <p:nvSpPr>
          <p:cNvPr id="13" name="Text 10"/>
          <p:cNvSpPr txBox="1"/>
          <p:nvPr/>
        </p:nvSpPr>
        <p:spPr>
          <a:xfrm>
            <a:off x="8092440" y="2487168"/>
            <a:ext cx="3154680" cy="301752"/>
          </a:xfrm>
          <a:prstGeom prst="rect">
            <a:avLst/>
          </a:prstGeom>
          <a:noFill/>
          <a:ln/>
        </p:spPr>
        <p:txBody>
          <a:bodyPr wrap="square" lIns="0" tIns="0" rIns="0" bIns="0" rtlCol="0" anchor="ctr"/>
          <a:lstStyle/>
          <a:p>
            <a:pPr indent="0" marL="0">
              <a:buNone/>
            </a:pPr>
            <a:r>
              <a:rPr lang="en-US" sz="1500" b="1" dirty="0">
                <a:solidFill>
                  <a:srgbClr val="2E86DE"/>
                </a:solidFill>
                <a:latin typeface="Cambria" pitchFamily="34" charset="0"/>
                <a:ea typeface="Cambria" pitchFamily="34" charset="-122"/>
                <a:cs typeface="Cambria" pitchFamily="34" charset="-120"/>
              </a:rPr>
              <a:t>p = 3.5e-19</a:t>
            </a:r>
            <a:endParaRPr lang="en-US" sz="1500" dirty="0"/>
          </a:p>
        </p:txBody>
      </p:sp>
      <p:sp>
        <p:nvSpPr>
          <p:cNvPr id="14" name="Text 11"/>
          <p:cNvSpPr txBox="1"/>
          <p:nvPr/>
        </p:nvSpPr>
        <p:spPr>
          <a:xfrm>
            <a:off x="8092440" y="2871216"/>
            <a:ext cx="3154680" cy="256032"/>
          </a:xfrm>
          <a:prstGeom prst="rect">
            <a:avLst/>
          </a:prstGeom>
          <a:noFill/>
          <a:ln/>
        </p:spPr>
        <p:txBody>
          <a:bodyPr wrap="square" lIns="0" tIns="0" rIns="0" bIns="0" rtlCol="0" anchor="ctr"/>
          <a:lstStyle/>
          <a:p>
            <a:pPr indent="0" marL="0">
              <a:buNone/>
            </a:pPr>
            <a:r>
              <a:rPr lang="en-US" sz="1150" dirty="0">
                <a:solidFill>
                  <a:srgbClr val="5A6B7C"/>
                </a:solidFill>
                <a:latin typeface="Calibri" pitchFamily="34" charset="0"/>
                <a:ea typeface="Calibri" pitchFamily="34" charset="-122"/>
                <a:cs typeface="Calibri" pitchFamily="34" charset="-120"/>
              </a:rPr>
              <a:t>Full RGB vs its control</a:t>
            </a:r>
            <a:endParaRPr lang="en-US" sz="1150" dirty="0"/>
          </a:p>
        </p:txBody>
      </p:sp>
      <p:sp>
        <p:nvSpPr>
          <p:cNvPr id="15" name="Text 12"/>
          <p:cNvSpPr txBox="1"/>
          <p:nvPr/>
        </p:nvSpPr>
        <p:spPr>
          <a:xfrm>
            <a:off x="8092440" y="3090672"/>
            <a:ext cx="3154680" cy="301752"/>
          </a:xfrm>
          <a:prstGeom prst="rect">
            <a:avLst/>
          </a:prstGeom>
          <a:noFill/>
          <a:ln/>
        </p:spPr>
        <p:txBody>
          <a:bodyPr wrap="square" lIns="0" tIns="0" rIns="0" bIns="0" rtlCol="0" anchor="ctr"/>
          <a:lstStyle/>
          <a:p>
            <a:pPr indent="0" marL="0">
              <a:buNone/>
            </a:pPr>
            <a:r>
              <a:rPr lang="en-US" sz="1500" b="1" dirty="0">
                <a:solidFill>
                  <a:srgbClr val="2E86DE"/>
                </a:solidFill>
                <a:latin typeface="Cambria" pitchFamily="34" charset="0"/>
                <a:ea typeface="Cambria" pitchFamily="34" charset="-122"/>
                <a:cs typeface="Cambria" pitchFamily="34" charset="-120"/>
              </a:rPr>
              <a:t>p = 2.6e-18</a:t>
            </a:r>
            <a:endParaRPr lang="en-US" sz="1500" dirty="0"/>
          </a:p>
        </p:txBody>
      </p:sp>
      <p:sp>
        <p:nvSpPr>
          <p:cNvPr id="16" name="Text 13"/>
          <p:cNvSpPr txBox="1"/>
          <p:nvPr/>
        </p:nvSpPr>
        <p:spPr>
          <a:xfrm>
            <a:off x="8092440" y="3474720"/>
            <a:ext cx="3154680" cy="256032"/>
          </a:xfrm>
          <a:prstGeom prst="rect">
            <a:avLst/>
          </a:prstGeom>
          <a:noFill/>
          <a:ln/>
        </p:spPr>
        <p:txBody>
          <a:bodyPr wrap="square" lIns="0" tIns="0" rIns="0" bIns="0" rtlCol="0" anchor="ctr"/>
          <a:lstStyle/>
          <a:p>
            <a:pPr indent="0" marL="0">
              <a:buNone/>
            </a:pPr>
            <a:r>
              <a:rPr lang="en-US" sz="1150" dirty="0">
                <a:solidFill>
                  <a:srgbClr val="5A6B7C"/>
                </a:solidFill>
                <a:latin typeface="Calibri" pitchFamily="34" charset="0"/>
                <a:ea typeface="Calibri" pitchFamily="34" charset="-122"/>
                <a:cs typeface="Calibri" pitchFamily="34" charset="-120"/>
              </a:rPr>
              <a:t>Blue vs red and green</a:t>
            </a:r>
            <a:endParaRPr lang="en-US" sz="1150" dirty="0"/>
          </a:p>
        </p:txBody>
      </p:sp>
      <p:sp>
        <p:nvSpPr>
          <p:cNvPr id="17" name="Text 14"/>
          <p:cNvSpPr txBox="1"/>
          <p:nvPr/>
        </p:nvSpPr>
        <p:spPr>
          <a:xfrm>
            <a:off x="8092440" y="3694176"/>
            <a:ext cx="3154680" cy="301752"/>
          </a:xfrm>
          <a:prstGeom prst="rect">
            <a:avLst/>
          </a:prstGeom>
          <a:noFill/>
          <a:ln/>
        </p:spPr>
        <p:txBody>
          <a:bodyPr wrap="square" lIns="0" tIns="0" rIns="0" bIns="0" rtlCol="0" anchor="ctr"/>
          <a:lstStyle/>
          <a:p>
            <a:pPr indent="0" marL="0">
              <a:buNone/>
            </a:pPr>
            <a:r>
              <a:rPr lang="en-US" sz="1500" b="1" dirty="0">
                <a:solidFill>
                  <a:srgbClr val="2E86DE"/>
                </a:solidFill>
                <a:latin typeface="Cambria" pitchFamily="34" charset="0"/>
                <a:ea typeface="Cambria" pitchFamily="34" charset="-122"/>
                <a:cs typeface="Cambria" pitchFamily="34" charset="-120"/>
              </a:rPr>
              <a:t>p = 4.0e-08</a:t>
            </a:r>
            <a:endParaRPr lang="en-US" sz="1500" dirty="0"/>
          </a:p>
        </p:txBody>
      </p:sp>
      <p:sp>
        <p:nvSpPr>
          <p:cNvPr id="18" name="Text 15"/>
          <p:cNvSpPr txBox="1"/>
          <p:nvPr/>
        </p:nvSpPr>
        <p:spPr>
          <a:xfrm>
            <a:off x="8092440" y="4078224"/>
            <a:ext cx="3154680" cy="256032"/>
          </a:xfrm>
          <a:prstGeom prst="rect">
            <a:avLst/>
          </a:prstGeom>
          <a:noFill/>
          <a:ln/>
        </p:spPr>
        <p:txBody>
          <a:bodyPr wrap="square" lIns="0" tIns="0" rIns="0" bIns="0" rtlCol="0" anchor="ctr"/>
          <a:lstStyle/>
          <a:p>
            <a:pPr indent="0" marL="0">
              <a:buNone/>
            </a:pPr>
            <a:r>
              <a:rPr lang="en-US" sz="1150" dirty="0">
                <a:solidFill>
                  <a:srgbClr val="5A6B7C"/>
                </a:solidFill>
                <a:latin typeface="Calibri" pitchFamily="34" charset="0"/>
                <a:ea typeface="Calibri" pitchFamily="34" charset="-122"/>
                <a:cs typeface="Calibri" pitchFamily="34" charset="-120"/>
              </a:rPr>
              <a:t>Red, green vs their controls</a:t>
            </a:r>
            <a:endParaRPr lang="en-US" sz="1150" dirty="0"/>
          </a:p>
        </p:txBody>
      </p:sp>
      <p:sp>
        <p:nvSpPr>
          <p:cNvPr id="19" name="Text 16"/>
          <p:cNvSpPr txBox="1"/>
          <p:nvPr/>
        </p:nvSpPr>
        <p:spPr>
          <a:xfrm>
            <a:off x="8092440" y="4297680"/>
            <a:ext cx="3154680" cy="301752"/>
          </a:xfrm>
          <a:prstGeom prst="rect">
            <a:avLst/>
          </a:prstGeom>
          <a:noFill/>
          <a:ln/>
        </p:spPr>
        <p:txBody>
          <a:bodyPr wrap="square" lIns="0" tIns="0" rIns="0" bIns="0" rtlCol="0" anchor="ctr"/>
          <a:lstStyle/>
          <a:p>
            <a:pPr indent="0" marL="0">
              <a:buNone/>
            </a:pPr>
            <a:r>
              <a:rPr lang="en-US" sz="1500" b="1" dirty="0">
                <a:solidFill>
                  <a:srgbClr val="C0392B"/>
                </a:solidFill>
                <a:latin typeface="Cambria" pitchFamily="34" charset="0"/>
                <a:ea typeface="Cambria" pitchFamily="34" charset="-122"/>
                <a:cs typeface="Cambria" pitchFamily="34" charset="-120"/>
              </a:rPr>
              <a:t>p = 1</a:t>
            </a:r>
            <a:endParaRPr lang="en-US" sz="1500" dirty="0"/>
          </a:p>
        </p:txBody>
      </p:sp>
      <p:sp>
        <p:nvSpPr>
          <p:cNvPr id="20" name="Text 17"/>
          <p:cNvSpPr txBox="1"/>
          <p:nvPr/>
        </p:nvSpPr>
        <p:spPr>
          <a:xfrm>
            <a:off x="8092440" y="4709160"/>
            <a:ext cx="3154680" cy="457200"/>
          </a:xfrm>
          <a:prstGeom prst="rect">
            <a:avLst/>
          </a:prstGeom>
          <a:noFill/>
          <a:ln/>
        </p:spPr>
        <p:txBody>
          <a:bodyPr wrap="square" lIns="0" tIns="0" rIns="0" bIns="0" rtlCol="0" anchor="t"/>
          <a:lstStyle/>
          <a:p>
            <a:pPr indent="0" marL="0">
              <a:lnSpc>
                <a:spcPts val="1500"/>
              </a:lnSpc>
              <a:buNone/>
            </a:pPr>
            <a:r>
              <a:rPr lang="en-US" sz="1200" i="1" dirty="0">
                <a:solidFill>
                  <a:srgbClr val="1B2A41"/>
                </a:solidFill>
                <a:latin typeface="Calibri" pitchFamily="34" charset="0"/>
                <a:ea typeface="Calibri" pitchFamily="34" charset="-122"/>
                <a:cs typeface="Calibri" pitchFamily="34" charset="-120"/>
              </a:rPr>
              <a:t>Red and green are not distinguishable from a clean model at all.</a:t>
            </a:r>
            <a:endParaRPr lang="en-US" sz="1200" dirty="0"/>
          </a:p>
        </p:txBody>
      </p:sp>
      <p:sp>
        <p:nvSpPr>
          <p:cNvPr id="21" name="Text 18"/>
          <p:cNvSpPr txBox="1"/>
          <p:nvPr/>
        </p:nvSpPr>
        <p:spPr>
          <a:xfrm>
            <a:off x="640080" y="5440680"/>
            <a:ext cx="10881360" cy="640080"/>
          </a:xfrm>
          <a:prstGeom prst="rect">
            <a:avLst/>
          </a:prstGeom>
          <a:noFill/>
          <a:ln/>
        </p:spPr>
        <p:txBody>
          <a:bodyPr wrap="square" lIns="0" tIns="0" rIns="0" bIns="0" rtlCol="0" anchor="t"/>
          <a:lstStyle/>
          <a:p>
            <a:pPr indent="0" marL="0">
              <a:lnSpc>
                <a:spcPts val="1700"/>
              </a:lnSpc>
              <a:buNone/>
            </a:pPr>
            <a:r>
              <a:rPr lang="en-US" sz="1250" i="1" dirty="0">
                <a:solidFill>
                  <a:srgbClr val="5A6B7C"/>
                </a:solidFill>
                <a:latin typeface="Calibri" pitchFamily="34" charset="0"/>
                <a:ea typeface="Calibri" pitchFamily="34" charset="-122"/>
                <a:cs typeface="Calibri" pitchFamily="34" charset="-120"/>
              </a:rPr>
              <a:t>Blue alone matches all three channels at once, and blue is a deterministic edge map of red and green, so it carries nothing they lack. That is the paper's central claim. Seed 42; why blue and not green comes after the defenses.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E86DE"/>
                </a:solidFill>
                <a:latin typeface="Calibri" pitchFamily="34" charset="0"/>
                <a:ea typeface="Calibri" pitchFamily="34" charset="-122"/>
                <a:cs typeface="Calibri" pitchFamily="34" charset="-120"/>
              </a:rPr>
              <a:t>RESULTS   ·   2 of 4</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Only one of four defenses moves the attack at all</a:t>
            </a:r>
            <a:endParaRPr lang="en-US" sz="3000" dirty="0"/>
          </a:p>
        </p:txBody>
      </p:sp>
      <p:sp>
        <p:nvSpPr>
          <p:cNvPr id="4" name="Shape 2"/>
          <p:cNvSpPr/>
          <p:nvPr/>
        </p:nvSpPr>
        <p:spPr>
          <a:xfrm>
            <a:off x="10506456" y="6291072"/>
            <a:ext cx="137160" cy="137160"/>
          </a:xfrm>
          <a:prstGeom prst="rect">
            <a:avLst/>
          </a:prstGeom>
          <a:solidFill>
            <a:srgbClr val="D3DCE4"/>
          </a:solidFill>
          <a:ln/>
        </p:spPr>
      </p:sp>
      <p:sp>
        <p:nvSpPr>
          <p:cNvPr id="5" name="Shape 3"/>
          <p:cNvSpPr/>
          <p:nvPr/>
        </p:nvSpPr>
        <p:spPr>
          <a:xfrm>
            <a:off x="10725912" y="6291072"/>
            <a:ext cx="137160" cy="137160"/>
          </a:xfrm>
          <a:prstGeom prst="rect">
            <a:avLst/>
          </a:prstGeom>
          <a:solidFill>
            <a:srgbClr val="D3DCE4"/>
          </a:solidFill>
          <a:ln/>
        </p:spPr>
      </p:sp>
      <p:sp>
        <p:nvSpPr>
          <p:cNvPr id="6" name="Shape 4"/>
          <p:cNvSpPr/>
          <p:nvPr/>
        </p:nvSpPr>
        <p:spPr>
          <a:xfrm>
            <a:off x="10945368" y="6291072"/>
            <a:ext cx="137160" cy="137160"/>
          </a:xfrm>
          <a:prstGeom prst="rect">
            <a:avLst/>
          </a:prstGeom>
          <a:solidFill>
            <a:srgbClr val="2E86DE"/>
          </a:solidFill>
          <a:ln/>
        </p:spPr>
      </p:sp>
      <p:sp>
        <p:nvSpPr>
          <p:cNvPr id="7" name="Shape 5"/>
          <p:cNvSpPr/>
          <p:nvPr/>
        </p:nvSpPr>
        <p:spPr>
          <a:xfrm>
            <a:off x="11164824" y="6291072"/>
            <a:ext cx="137160" cy="137160"/>
          </a:xfrm>
          <a:prstGeom prst="rect">
            <a:avLst/>
          </a:prstGeom>
          <a:solidFill>
            <a:srgbClr val="D3DCE4"/>
          </a:solidFill>
          <a:ln/>
        </p:spPr>
      </p:sp>
      <p:sp>
        <p:nvSpPr>
          <p:cNvPr id="8" name="Shape 6"/>
          <p:cNvSpPr/>
          <p:nvPr/>
        </p:nvSpPr>
        <p:spPr>
          <a:xfrm>
            <a:off x="11384280" y="6291072"/>
            <a:ext cx="137160" cy="137160"/>
          </a:xfrm>
          <a:prstGeom prst="rect">
            <a:avLst/>
          </a:prstGeom>
          <a:solidFill>
            <a:srgbClr val="D3DCE4"/>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680960" cy="914400"/>
        </p:xfrm>
        <a:graphic>
          <a:graphicData uri="http://schemas.openxmlformats.org/drawingml/2006/table">
            <a:tbl>
              <a:tblPr/>
              <a:tblGrid>
                <a:gridCol w="2743200"/>
                <a:gridCol w="1645920"/>
                <a:gridCol w="1645920"/>
                <a:gridCol w="1645920"/>
              </a:tblGrid>
              <a:tr h="512064">
                <a:tc>
                  <a:txBody>
                    <a:bodyPr/>
                    <a:lstStyle/>
                    <a:p>
                      <a:pPr indent="0" marL="0">
                        <a:buNone/>
                      </a:pPr>
                      <a:r>
                        <a:rPr lang="en-US" sz="1250" b="1" dirty="0">
                          <a:solidFill>
                            <a:srgbClr val="1B2A41"/>
                          </a:solidFill>
                          <a:latin typeface="Calibri" pitchFamily="34" charset="0"/>
                          <a:ea typeface="Calibri" pitchFamily="34" charset="-122"/>
                          <a:cs typeface="Calibri" pitchFamily="34" charset="-120"/>
                        </a:rPr>
                        <a:t>Defense</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A41"/>
                          </a:solidFill>
                          <a:latin typeface="Calibri" pitchFamily="34" charset="0"/>
                          <a:ea typeface="Calibri" pitchFamily="34" charset="-122"/>
                          <a:cs typeface="Calibri" pitchFamily="34" charset="-120"/>
                        </a:rPr>
                        <a:t>Blue / fusion</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A41"/>
                          </a:solidFill>
                          <a:latin typeface="Calibri" pitchFamily="34" charset="0"/>
                          <a:ea typeface="Calibri" pitchFamily="34" charset="-122"/>
                          <a:cs typeface="Calibri" pitchFamily="34" charset="-120"/>
                        </a:rPr>
                        <a:t>Full RGB</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A41"/>
                          </a:solidFill>
                          <a:latin typeface="Calibri" pitchFamily="34" charset="0"/>
                          <a:ea typeface="Calibri" pitchFamily="34" charset="-122"/>
                          <a:cs typeface="Calibri" pitchFamily="34" charset="-120"/>
                        </a:rPr>
                        <a:t>Clean acc., full RGB</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512064">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No defense</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0.8400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512064">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L2 clipping</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0.8533</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512064">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Coordinate-wise median</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0.8400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512064">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Trimmed mean</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0.8133</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512064">
                <a:tc>
                  <a:txBody>
                    <a:bodyPr/>
                    <a:lstStyle/>
                    <a:p>
                      <a:pPr indent="0" marL="0">
                        <a:buNone/>
                      </a:pPr>
                      <a:r>
                        <a:rPr lang="en-US" sz="1250" b="1" dirty="0">
                          <a:solidFill>
                            <a:srgbClr val="1B2A41"/>
                          </a:solidFill>
                          <a:latin typeface="Calibri" pitchFamily="34" charset="0"/>
                          <a:ea typeface="Calibri" pitchFamily="34" charset="-122"/>
                          <a:cs typeface="Calibri" pitchFamily="34" charset="-120"/>
                        </a:rPr>
                        <a:t>Multi-Krum</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15/15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2E86DE"/>
                          </a:solidFill>
                          <a:latin typeface="Calibri" pitchFamily="34" charset="0"/>
                          <a:ea typeface="Calibri" pitchFamily="34" charset="-122"/>
                          <a:cs typeface="Calibri" pitchFamily="34" charset="-120"/>
                        </a:rPr>
                        <a:t>6/15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0392B"/>
                          </a:solidFill>
                          <a:latin typeface="Calibri" pitchFamily="34" charset="0"/>
                          <a:ea typeface="Calibri" pitchFamily="34" charset="-122"/>
                          <a:cs typeface="Calibri" pitchFamily="34" charset="-120"/>
                        </a:rPr>
                        <a:t>0.7600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8503920" y="1828800"/>
            <a:ext cx="3017520" cy="2286000"/>
          </a:xfrm>
          <a:prstGeom prst="rect">
            <a:avLst/>
          </a:prstGeom>
          <a:noFill/>
          <a:ln/>
        </p:spPr>
        <p:txBody>
          <a:bodyPr wrap="square" lIns="0" tIns="0" rIns="0" bIns="0" rtlCol="0" anchor="t"/>
          <a:lstStyle/>
          <a:p>
            <a:pPr indent="0" marL="0">
              <a:lnSpc>
                <a:spcPts val="1900"/>
              </a:lnSpc>
              <a:buNone/>
            </a:pPr>
            <a:r>
              <a:rPr lang="en-US" sz="1350" dirty="0">
                <a:solidFill>
                  <a:srgbClr val="1B2A41"/>
                </a:solidFill>
                <a:latin typeface="Calibri" pitchFamily="34" charset="0"/>
                <a:ea typeface="Calibri" pitchFamily="34" charset="-122"/>
                <a:cs typeface="Calibri" pitchFamily="34" charset="-120"/>
              </a:rPr>
              <a:t>Multi-Krum is the only defense that moved the attack at all, so it is the one carried to the multi-seed stage — even though under blue/fusion it too leaves the backdoor at 15 of 15.</a:t>
            </a:r>
            <a:endParaRPr lang="en-US" sz="1350" dirty="0"/>
          </a:p>
        </p:txBody>
      </p:sp>
      <p:sp>
        <p:nvSpPr>
          <p:cNvPr id="11" name="Text 8"/>
          <p:cNvSpPr txBox="1"/>
          <p:nvPr/>
        </p:nvSpPr>
        <p:spPr>
          <a:xfrm>
            <a:off x="640080" y="5257800"/>
            <a:ext cx="10881360" cy="640080"/>
          </a:xfrm>
          <a:prstGeom prst="rect">
            <a:avLst/>
          </a:prstGeom>
          <a:noFill/>
          <a:ln/>
        </p:spPr>
        <p:txBody>
          <a:bodyPr wrap="square" lIns="0" tIns="0" rIns="0" bIns="0" rtlCol="0" anchor="t"/>
          <a:lstStyle/>
          <a:p>
            <a:pPr indent="0" marL="0">
              <a:lnSpc>
                <a:spcPts val="1700"/>
              </a:lnSpc>
              <a:buNone/>
            </a:pPr>
            <a:r>
              <a:rPr lang="en-US" sz="1250" i="1" dirty="0">
                <a:solidFill>
                  <a:srgbClr val="5A6B7C"/>
                </a:solidFill>
                <a:latin typeface="Calibri" pitchFamily="34" charset="0"/>
                <a:ea typeface="Calibri" pitchFamily="34" charset="-122"/>
                <a:cs typeface="Calibri" pitchFamily="34" charset="-120"/>
              </a:rPr>
              <a:t>Single seed, seed 42 — which turns out to be the seed where blue/fusion defeats Multi-Krum. Counts are out of the 15 AgentTesla test images; the paper prints them as rates, 1.0000 and 0.4000.</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E86DE"/>
                </a:solidFill>
                <a:latin typeface="Calibri" pitchFamily="34" charset="0"/>
                <a:ea typeface="Calibri" pitchFamily="34" charset="-122"/>
                <a:cs typeface="Calibri" pitchFamily="34" charset="-120"/>
              </a:rPr>
              <a:t>RESULTS   ·   3 of 4</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Across three seeds, both strong triggers hit 15 of 15</a:t>
            </a:r>
            <a:endParaRPr lang="en-US" sz="3000" dirty="0"/>
          </a:p>
        </p:txBody>
      </p:sp>
      <p:sp>
        <p:nvSpPr>
          <p:cNvPr id="4" name="Shape 2"/>
          <p:cNvSpPr/>
          <p:nvPr/>
        </p:nvSpPr>
        <p:spPr>
          <a:xfrm>
            <a:off x="10506456" y="6291072"/>
            <a:ext cx="137160" cy="137160"/>
          </a:xfrm>
          <a:prstGeom prst="rect">
            <a:avLst/>
          </a:prstGeom>
          <a:solidFill>
            <a:srgbClr val="D3DCE4"/>
          </a:solidFill>
          <a:ln/>
        </p:spPr>
      </p:sp>
      <p:sp>
        <p:nvSpPr>
          <p:cNvPr id="5" name="Shape 3"/>
          <p:cNvSpPr/>
          <p:nvPr/>
        </p:nvSpPr>
        <p:spPr>
          <a:xfrm>
            <a:off x="10725912" y="6291072"/>
            <a:ext cx="137160" cy="137160"/>
          </a:xfrm>
          <a:prstGeom prst="rect">
            <a:avLst/>
          </a:prstGeom>
          <a:solidFill>
            <a:srgbClr val="D3DCE4"/>
          </a:solidFill>
          <a:ln/>
        </p:spPr>
      </p:sp>
      <p:sp>
        <p:nvSpPr>
          <p:cNvPr id="6" name="Shape 4"/>
          <p:cNvSpPr/>
          <p:nvPr/>
        </p:nvSpPr>
        <p:spPr>
          <a:xfrm>
            <a:off x="10945368" y="6291072"/>
            <a:ext cx="137160" cy="137160"/>
          </a:xfrm>
          <a:prstGeom prst="rect">
            <a:avLst/>
          </a:prstGeom>
          <a:solidFill>
            <a:srgbClr val="2E86DE"/>
          </a:solidFill>
          <a:ln/>
        </p:spPr>
      </p:sp>
      <p:sp>
        <p:nvSpPr>
          <p:cNvPr id="7" name="Shape 5"/>
          <p:cNvSpPr/>
          <p:nvPr/>
        </p:nvSpPr>
        <p:spPr>
          <a:xfrm>
            <a:off x="11164824" y="6291072"/>
            <a:ext cx="137160" cy="137160"/>
          </a:xfrm>
          <a:prstGeom prst="rect">
            <a:avLst/>
          </a:prstGeom>
          <a:solidFill>
            <a:srgbClr val="D3DCE4"/>
          </a:solidFill>
          <a:ln/>
        </p:spPr>
      </p:sp>
      <p:sp>
        <p:nvSpPr>
          <p:cNvPr id="8" name="Shape 6"/>
          <p:cNvSpPr/>
          <p:nvPr/>
        </p:nvSpPr>
        <p:spPr>
          <a:xfrm>
            <a:off x="11384280" y="6291072"/>
            <a:ext cx="137160" cy="137160"/>
          </a:xfrm>
          <a:prstGeom prst="rect">
            <a:avLst/>
          </a:prstGeom>
          <a:solidFill>
            <a:srgbClr val="D3DCE4"/>
          </a:solidFill>
          <a:ln/>
        </p:spPr>
      </p:sp>
      <p:sp>
        <p:nvSpPr>
          <p:cNvPr id="9" name="Shape 7"/>
          <p:cNvSpPr/>
          <p:nvPr/>
        </p:nvSpPr>
        <p:spPr>
          <a:xfrm>
            <a:off x="640080" y="1737360"/>
            <a:ext cx="3474720" cy="2057400"/>
          </a:xfrm>
          <a:prstGeom prst="roundRect">
            <a:avLst>
              <a:gd name="adj" fmla="val 2667"/>
            </a:avLst>
          </a:prstGeom>
          <a:solidFill>
            <a:srgbClr val="EDF1F5"/>
          </a:solidFill>
          <a:ln/>
        </p:spPr>
      </p:sp>
      <p:sp>
        <p:nvSpPr>
          <p:cNvPr id="10" name="Text 8"/>
          <p:cNvSpPr txBox="1"/>
          <p:nvPr/>
        </p:nvSpPr>
        <p:spPr>
          <a:xfrm>
            <a:off x="896112" y="1938528"/>
            <a:ext cx="2971800" cy="603504"/>
          </a:xfrm>
          <a:prstGeom prst="rect">
            <a:avLst/>
          </a:prstGeom>
          <a:noFill/>
          <a:ln/>
        </p:spPr>
        <p:txBody>
          <a:bodyPr wrap="square" lIns="0" tIns="0" rIns="0" bIns="0" rtlCol="0" anchor="ctr"/>
          <a:lstStyle/>
          <a:p>
            <a:pPr indent="0" marL="0">
              <a:buNone/>
            </a:pPr>
            <a:r>
              <a:rPr lang="en-US" sz="2600" b="1" dirty="0">
                <a:solidFill>
                  <a:srgbClr val="2E86DE"/>
                </a:solidFill>
                <a:latin typeface="Cambria" pitchFamily="34" charset="0"/>
                <a:ea typeface="Cambria" pitchFamily="34" charset="-122"/>
                <a:cs typeface="Cambria" pitchFamily="34" charset="-120"/>
              </a:rPr>
              <a:t>15/15</a:t>
            </a:r>
            <a:endParaRPr lang="en-US" sz="2600" dirty="0"/>
          </a:p>
        </p:txBody>
      </p:sp>
      <p:sp>
        <p:nvSpPr>
          <p:cNvPr id="11" name="Text 9"/>
          <p:cNvSpPr txBox="1"/>
          <p:nvPr/>
        </p:nvSpPr>
        <p:spPr>
          <a:xfrm>
            <a:off x="896112" y="2560320"/>
            <a:ext cx="2971800" cy="822960"/>
          </a:xfrm>
          <a:prstGeom prst="rect">
            <a:avLst/>
          </a:prstGeom>
          <a:noFill/>
          <a:ln/>
        </p:spPr>
        <p:txBody>
          <a:bodyPr wrap="square" lIns="0" tIns="0" rIns="0" bIns="0" rtlCol="0" anchor="t"/>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on every seed, for blue/fusion and for full RGB under FedAvg</a:t>
            </a:r>
            <a:endParaRPr lang="en-US" sz="1150" dirty="0"/>
          </a:p>
        </p:txBody>
      </p:sp>
      <p:sp>
        <p:nvSpPr>
          <p:cNvPr id="12" name="Shape 10"/>
          <p:cNvSpPr/>
          <p:nvPr/>
        </p:nvSpPr>
        <p:spPr>
          <a:xfrm>
            <a:off x="4343400" y="1737360"/>
            <a:ext cx="3474720" cy="2057400"/>
          </a:xfrm>
          <a:prstGeom prst="roundRect">
            <a:avLst>
              <a:gd name="adj" fmla="val 2667"/>
            </a:avLst>
          </a:prstGeom>
          <a:solidFill>
            <a:srgbClr val="EDF1F5"/>
          </a:solidFill>
          <a:ln/>
        </p:spPr>
      </p:sp>
      <p:sp>
        <p:nvSpPr>
          <p:cNvPr id="13" name="Text 11"/>
          <p:cNvSpPr txBox="1"/>
          <p:nvPr/>
        </p:nvSpPr>
        <p:spPr>
          <a:xfrm>
            <a:off x="4599432" y="1938528"/>
            <a:ext cx="2971800" cy="603504"/>
          </a:xfrm>
          <a:prstGeom prst="rect">
            <a:avLst/>
          </a:prstGeom>
          <a:noFill/>
          <a:ln/>
        </p:spPr>
        <p:txBody>
          <a:bodyPr wrap="square" lIns="0" tIns="0" rIns="0" bIns="0" rtlCol="0" anchor="ctr"/>
          <a:lstStyle/>
          <a:p>
            <a:pPr indent="0" marL="0">
              <a:buNone/>
            </a:pPr>
            <a:r>
              <a:rPr lang="en-US" sz="2600" b="1" dirty="0">
                <a:solidFill>
                  <a:srgbClr val="1B2A41"/>
                </a:solidFill>
                <a:latin typeface="Cambria" pitchFamily="34" charset="0"/>
                <a:ea typeface="Cambria" pitchFamily="34" charset="-122"/>
                <a:cs typeface="Cambria" pitchFamily="34" charset="-120"/>
              </a:rPr>
              <a:t>0.8311 ± 0.0539</a:t>
            </a:r>
            <a:endParaRPr lang="en-US" sz="2600" dirty="0"/>
          </a:p>
        </p:txBody>
      </p:sp>
      <p:sp>
        <p:nvSpPr>
          <p:cNvPr id="14" name="Text 12"/>
          <p:cNvSpPr txBox="1"/>
          <p:nvPr/>
        </p:nvSpPr>
        <p:spPr>
          <a:xfrm>
            <a:off x="4599432" y="2560320"/>
            <a:ext cx="2971800" cy="822960"/>
          </a:xfrm>
          <a:prstGeom prst="rect">
            <a:avLst/>
          </a:prstGeom>
          <a:noFill/>
          <a:ln/>
        </p:spPr>
        <p:txBody>
          <a:bodyPr wrap="square" lIns="0" tIns="0" rIns="0" bIns="0" rtlCol="0" anchor="t"/>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clean accuracy under the blue/fusion backdoor, against 0.8267 ± 0.0134 for clean FL</a:t>
            </a:r>
            <a:endParaRPr lang="en-US" sz="1150" dirty="0"/>
          </a:p>
        </p:txBody>
      </p:sp>
      <p:sp>
        <p:nvSpPr>
          <p:cNvPr id="15" name="Shape 13"/>
          <p:cNvSpPr/>
          <p:nvPr/>
        </p:nvSpPr>
        <p:spPr>
          <a:xfrm>
            <a:off x="8046720" y="1737360"/>
            <a:ext cx="3474720" cy="2057400"/>
          </a:xfrm>
          <a:prstGeom prst="roundRect">
            <a:avLst>
              <a:gd name="adj" fmla="val 2667"/>
            </a:avLst>
          </a:prstGeom>
          <a:solidFill>
            <a:srgbClr val="EDF1F5"/>
          </a:solidFill>
          <a:ln/>
        </p:spPr>
      </p:sp>
      <p:sp>
        <p:nvSpPr>
          <p:cNvPr id="16" name="Text 14"/>
          <p:cNvSpPr txBox="1"/>
          <p:nvPr/>
        </p:nvSpPr>
        <p:spPr>
          <a:xfrm>
            <a:off x="8302752" y="1938528"/>
            <a:ext cx="2971800" cy="603504"/>
          </a:xfrm>
          <a:prstGeom prst="rect">
            <a:avLst/>
          </a:prstGeom>
          <a:noFill/>
          <a:ln/>
        </p:spPr>
        <p:txBody>
          <a:bodyPr wrap="square" lIns="0" tIns="0" rIns="0" bIns="0" rtlCol="0" anchor="ctr"/>
          <a:lstStyle/>
          <a:p>
            <a:pPr indent="0" marL="0">
              <a:buNone/>
            </a:pPr>
            <a:r>
              <a:rPr lang="en-US" sz="2600" b="1" dirty="0">
                <a:solidFill>
                  <a:srgbClr val="2E86DE"/>
                </a:solidFill>
                <a:latin typeface="Cambria" pitchFamily="34" charset="0"/>
                <a:ea typeface="Cambria" pitchFamily="34" charset="-122"/>
                <a:cs typeface="Cambria" pitchFamily="34" charset="-120"/>
              </a:rPr>
              <a:t>7 of 8</a:t>
            </a:r>
            <a:endParaRPr lang="en-US" sz="2600" dirty="0"/>
          </a:p>
        </p:txBody>
      </p:sp>
      <p:sp>
        <p:nvSpPr>
          <p:cNvPr id="17" name="Text 15"/>
          <p:cNvSpPr txBox="1"/>
          <p:nvPr/>
        </p:nvSpPr>
        <p:spPr>
          <a:xfrm>
            <a:off x="8302752" y="2560320"/>
            <a:ext cx="2971800" cy="822960"/>
          </a:xfrm>
          <a:prstGeom prst="rect">
            <a:avLst/>
          </a:prstGeom>
          <a:noFill/>
          <a:ln/>
        </p:spPr>
        <p:txBody>
          <a:bodyPr wrap="square" lIns="0" tIns="0" rIns="0" bIns="0" rtlCol="0" anchor="t"/>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trigger controls give exactly the same target rate with and without the trigger</a:t>
            </a:r>
            <a:endParaRPr lang="en-US" sz="1150" dirty="0"/>
          </a:p>
        </p:txBody>
      </p:sp>
      <p:sp>
        <p:nvSpPr>
          <p:cNvPr id="18" name="Text 16"/>
          <p:cNvSpPr txBox="1"/>
          <p:nvPr/>
        </p:nvSpPr>
        <p:spPr>
          <a:xfrm>
            <a:off x="640080" y="4069080"/>
            <a:ext cx="10881360" cy="1280160"/>
          </a:xfrm>
          <a:prstGeom prst="rect">
            <a:avLst/>
          </a:prstGeom>
          <a:noFill/>
          <a:ln/>
        </p:spPr>
        <p:txBody>
          <a:bodyPr wrap="square" lIns="0" tIns="0" rIns="0" bIns="0" rtlCol="0" anchor="t"/>
          <a:lstStyle/>
          <a:p>
            <a:pPr marL="342900" indent="-342900">
              <a:lnSpc>
                <a:spcPts val="2000"/>
              </a:lnSpc>
              <a:spcAft>
                <a:spcPts val="1100"/>
              </a:spcAft>
              <a:buSzPct val="100000"/>
              <a:buChar char="•"/>
            </a:pPr>
            <a:r>
              <a:rPr lang="en-US" sz="1350" dirty="0">
                <a:solidFill>
                  <a:srgbClr val="1B2A41"/>
                </a:solidFill>
                <a:latin typeface="Calibri" pitchFamily="34" charset="0"/>
                <a:ea typeface="Calibri" pitchFamily="34" charset="-122"/>
                <a:cs typeface="Calibri" pitchFamily="34" charset="-120"/>
              </a:rPr>
              <a:t>The control applies the same trigger, at test time, to a clean model that never saw poisoned data. Its residual rate is the model's own AgentTesla-to-FormBook confusion.</a:t>
            </a:r>
            <a:endParaRPr lang="en-US" sz="1350" dirty="0"/>
          </a:p>
          <a:p>
            <a:pPr marL="342900" indent="-342900">
              <a:lnSpc>
                <a:spcPts val="2000"/>
              </a:lnSpc>
              <a:buSzPct val="100000"/>
              <a:buChar char="•"/>
            </a:pPr>
            <a:r>
              <a:rPr lang="en-US" sz="1350" dirty="0">
                <a:solidFill>
                  <a:srgbClr val="1B2A41"/>
                </a:solidFill>
                <a:latin typeface="Calibri" pitchFamily="34" charset="0"/>
                <a:ea typeface="Calibri" pitchFamily="34" charset="-122"/>
                <a:cs typeface="Calibri" pitchFamily="34" charset="-120"/>
              </a:rPr>
              <a:t>Per-seed control rates for blue/fusion are 4/15, 1/15 and 1/15, so the 15 of 15 under poisoning cannot be credited to the trigger pattern itself.</a:t>
            </a:r>
            <a:endParaRPr lang="en-US" sz="1350" dirty="0"/>
          </a:p>
        </p:txBody>
      </p:sp>
      <p:sp>
        <p:nvSpPr>
          <p:cNvPr id="19" name="Text 17"/>
          <p:cNvSpPr txBox="1"/>
          <p:nvPr/>
        </p:nvSpPr>
        <p:spPr>
          <a:xfrm>
            <a:off x="640080" y="5577840"/>
            <a:ext cx="10881360" cy="640080"/>
          </a:xfrm>
          <a:prstGeom prst="rect">
            <a:avLst/>
          </a:prstGeom>
          <a:noFill/>
          <a:ln/>
        </p:spPr>
        <p:txBody>
          <a:bodyPr wrap="square" lIns="0" tIns="0" rIns="0" bIns="0" rtlCol="0" anchor="t"/>
          <a:lstStyle/>
          <a:p>
            <a:pPr indent="0" marL="0">
              <a:lnSpc>
                <a:spcPts val="1700"/>
              </a:lnSpc>
              <a:buNone/>
            </a:pPr>
            <a:r>
              <a:rPr lang="en-US" sz="1250" i="1" dirty="0">
                <a:solidFill>
                  <a:srgbClr val="5A6B7C"/>
                </a:solidFill>
                <a:latin typeface="Calibri" pitchFamily="34" charset="0"/>
                <a:ea typeface="Calibri" pitchFamily="34" charset="-122"/>
                <a:cs typeface="Calibri" pitchFamily="34" charset="-120"/>
              </a:rPr>
              <a:t>Clean accuracy stays comparable on average, but its spread is four times the baseline's and on seed 123 it falls to 0.7733. Re-trained under the common budget, the seed-42 baseline gives 0.7867 accuracy, 0.7869 macro-F1 and a control rate of 6/15 rather than 4/15.</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E86DE"/>
                </a:solidFill>
                <a:latin typeface="Calibri" pitchFamily="34" charset="0"/>
                <a:ea typeface="Calibri" pitchFamily="34" charset="-122"/>
                <a:cs typeface="Calibri" pitchFamily="34" charset="-120"/>
              </a:rPr>
              <a:t>RESULTS   ·   4 of 4</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Multi-Krum does not half-work. It flips.</a:t>
            </a:r>
            <a:endParaRPr lang="en-US" sz="3000" dirty="0"/>
          </a:p>
        </p:txBody>
      </p:sp>
      <p:sp>
        <p:nvSpPr>
          <p:cNvPr id="4" name="Shape 2"/>
          <p:cNvSpPr/>
          <p:nvPr/>
        </p:nvSpPr>
        <p:spPr>
          <a:xfrm>
            <a:off x="10506456" y="6291072"/>
            <a:ext cx="137160" cy="137160"/>
          </a:xfrm>
          <a:prstGeom prst="rect">
            <a:avLst/>
          </a:prstGeom>
          <a:solidFill>
            <a:srgbClr val="D3DCE4"/>
          </a:solidFill>
          <a:ln/>
        </p:spPr>
      </p:sp>
      <p:sp>
        <p:nvSpPr>
          <p:cNvPr id="5" name="Shape 3"/>
          <p:cNvSpPr/>
          <p:nvPr/>
        </p:nvSpPr>
        <p:spPr>
          <a:xfrm>
            <a:off x="10725912" y="6291072"/>
            <a:ext cx="137160" cy="137160"/>
          </a:xfrm>
          <a:prstGeom prst="rect">
            <a:avLst/>
          </a:prstGeom>
          <a:solidFill>
            <a:srgbClr val="D3DCE4"/>
          </a:solidFill>
          <a:ln/>
        </p:spPr>
      </p:sp>
      <p:sp>
        <p:nvSpPr>
          <p:cNvPr id="6" name="Shape 4"/>
          <p:cNvSpPr/>
          <p:nvPr/>
        </p:nvSpPr>
        <p:spPr>
          <a:xfrm>
            <a:off x="10945368" y="6291072"/>
            <a:ext cx="137160" cy="137160"/>
          </a:xfrm>
          <a:prstGeom prst="rect">
            <a:avLst/>
          </a:prstGeom>
          <a:solidFill>
            <a:srgbClr val="2E86DE"/>
          </a:solidFill>
          <a:ln/>
        </p:spPr>
      </p:sp>
      <p:sp>
        <p:nvSpPr>
          <p:cNvPr id="7" name="Shape 5"/>
          <p:cNvSpPr/>
          <p:nvPr/>
        </p:nvSpPr>
        <p:spPr>
          <a:xfrm>
            <a:off x="11164824" y="6291072"/>
            <a:ext cx="137160" cy="137160"/>
          </a:xfrm>
          <a:prstGeom prst="rect">
            <a:avLst/>
          </a:prstGeom>
          <a:solidFill>
            <a:srgbClr val="D3DCE4"/>
          </a:solidFill>
          <a:ln/>
        </p:spPr>
      </p:sp>
      <p:sp>
        <p:nvSpPr>
          <p:cNvPr id="8" name="Shape 6"/>
          <p:cNvSpPr/>
          <p:nvPr/>
        </p:nvSpPr>
        <p:spPr>
          <a:xfrm>
            <a:off x="11384280" y="6291072"/>
            <a:ext cx="137160" cy="137160"/>
          </a:xfrm>
          <a:prstGeom prst="rect">
            <a:avLst/>
          </a:prstGeom>
          <a:solidFill>
            <a:srgbClr val="D3DCE4"/>
          </a:solidFill>
          <a:ln/>
        </p:spPr>
      </p:sp>
      <p:graphicFrame>
        <p:nvGraphicFramePr>
          <p:cNvPr id="9" name="Chart 0" descr=""/>
          <p:cNvGraphicFramePr/>
          <p:nvPr/>
        </p:nvGraphicFramePr>
        <p:xfrm>
          <a:off x="640080" y="1691640"/>
          <a:ext cx="6675120" cy="356616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7589520" y="1691640"/>
            <a:ext cx="3931920" cy="3566160"/>
          </a:xfrm>
          <a:prstGeom prst="roundRect">
            <a:avLst>
              <a:gd name="adj" fmla="val 1538"/>
            </a:avLst>
          </a:prstGeom>
          <a:solidFill>
            <a:srgbClr val="FBEDEC"/>
          </a:solidFill>
          <a:ln/>
        </p:spPr>
      </p:sp>
      <p:sp>
        <p:nvSpPr>
          <p:cNvPr id="11" name="Text 8"/>
          <p:cNvSpPr txBox="1"/>
          <p:nvPr/>
        </p:nvSpPr>
        <p:spPr>
          <a:xfrm>
            <a:off x="7863840" y="1874520"/>
            <a:ext cx="3383280" cy="457200"/>
          </a:xfrm>
          <a:prstGeom prst="rect">
            <a:avLst/>
          </a:prstGeom>
          <a:noFill/>
          <a:ln/>
        </p:spPr>
        <p:txBody>
          <a:bodyPr wrap="square" lIns="0" tIns="0" rIns="0" bIns="0" rtlCol="0" anchor="ctr"/>
          <a:lstStyle/>
          <a:p>
            <a:pPr indent="0" marL="0">
              <a:buNone/>
            </a:pPr>
            <a:r>
              <a:rPr lang="en-US" sz="2200" b="1" dirty="0">
                <a:solidFill>
                  <a:srgbClr val="C0392B"/>
                </a:solidFill>
                <a:latin typeface="Cambria" pitchFamily="34" charset="0"/>
                <a:ea typeface="Cambria" pitchFamily="34" charset="-122"/>
                <a:cs typeface="Cambria" pitchFamily="34" charset="-120"/>
              </a:rPr>
              <a:t>0.5111 ± 0.4286</a:t>
            </a:r>
            <a:endParaRPr lang="en-US" sz="2200" dirty="0"/>
          </a:p>
        </p:txBody>
      </p:sp>
      <p:sp>
        <p:nvSpPr>
          <p:cNvPr id="12" name="Text 9"/>
          <p:cNvSpPr txBox="1"/>
          <p:nvPr/>
        </p:nvSpPr>
        <p:spPr>
          <a:xfrm>
            <a:off x="7863840" y="2304288"/>
            <a:ext cx="3383280" cy="3657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describes no run we actually observed.</a:t>
            </a:r>
            <a:endParaRPr lang="en-US" sz="1250" dirty="0"/>
          </a:p>
        </p:txBody>
      </p:sp>
      <p:sp>
        <p:nvSpPr>
          <p:cNvPr id="13" name="Text 10"/>
          <p:cNvSpPr txBox="1"/>
          <p:nvPr/>
        </p:nvSpPr>
        <p:spPr>
          <a:xfrm>
            <a:off x="7863840" y="2743200"/>
            <a:ext cx="3383280" cy="2331720"/>
          </a:xfrm>
          <a:prstGeom prst="rect">
            <a:avLst/>
          </a:prstGeom>
          <a:noFill/>
          <a:ln/>
        </p:spPr>
        <p:txBody>
          <a:bodyPr wrap="square" lIns="0" tIns="0" rIns="0" bIns="0" rtlCol="0" anchor="t"/>
          <a:lstStyle/>
          <a:p>
            <a:pPr marL="342900" indent="-342900">
              <a:lnSpc>
                <a:spcPts val="2000"/>
              </a:lnSpc>
              <a:spcAft>
                <a:spcPts val="1100"/>
              </a:spcAft>
              <a:buSzPct val="100000"/>
              <a:buChar char="•"/>
            </a:pPr>
            <a:r>
              <a:rPr lang="en-US" sz="1200" dirty="0">
                <a:solidFill>
                  <a:srgbClr val="1B2A41"/>
                </a:solidFill>
                <a:latin typeface="Calibri" pitchFamily="34" charset="0"/>
                <a:ea typeface="Calibri" pitchFamily="34" charset="-122"/>
                <a:cs typeface="Calibri" pitchFamily="34" charset="-120"/>
              </a:rPr>
              <a:t>For each trigger, one seed of three shows no suppression at all: 15 of 15.</a:t>
            </a:r>
            <a:endParaRPr lang="en-US" sz="1200" dirty="0"/>
          </a:p>
          <a:p>
            <a:pPr marL="342900" indent="-342900">
              <a:lnSpc>
                <a:spcPts val="2000"/>
              </a:lnSpc>
              <a:spcAft>
                <a:spcPts val="1100"/>
              </a:spcAft>
              <a:buSzPct val="100000"/>
              <a:buChar char="•"/>
            </a:pPr>
            <a:r>
              <a:rPr lang="en-US" sz="1200" dirty="0">
                <a:solidFill>
                  <a:srgbClr val="1B2A41"/>
                </a:solidFill>
                <a:latin typeface="Calibri" pitchFamily="34" charset="0"/>
                <a:ea typeface="Calibri" pitchFamily="34" charset="-122"/>
                <a:cs typeface="Calibri" pitchFamily="34" charset="-120"/>
              </a:rPr>
              <a:t>Multi-Krum does cut the attack against FedAvg, p = 1.5e-08 and 9.1e-07. It is unreliable as a standalone defense, not ineffective.</a:t>
            </a:r>
            <a:endParaRPr lang="en-US" sz="1200" dirty="0"/>
          </a:p>
          <a:p>
            <a:pPr marL="342900" indent="-342900">
              <a:lnSpc>
                <a:spcPts val="2000"/>
              </a:lnSpc>
              <a:buSzPct val="100000"/>
              <a:buChar char="•"/>
            </a:pPr>
            <a:r>
              <a:rPr lang="en-US" sz="1200" dirty="0">
                <a:solidFill>
                  <a:srgbClr val="1B2A41"/>
                </a:solidFill>
                <a:latin typeface="Calibri" pitchFamily="34" charset="0"/>
                <a:ea typeface="Calibri" pitchFamily="34" charset="-122"/>
                <a:cs typeface="Calibri" pitchFamily="34" charset="-120"/>
              </a:rPr>
              <a:t>Clean accuracy is nominally lower, but no paired difference is significant at n = 3, all p ≥ 0.42.</a:t>
            </a:r>
            <a:endParaRPr lang="en-US" sz="1200" dirty="0"/>
          </a:p>
        </p:txBody>
      </p:sp>
      <p:sp>
        <p:nvSpPr>
          <p:cNvPr id="14" name="Text 11"/>
          <p:cNvSpPr txBox="1"/>
          <p:nvPr/>
        </p:nvSpPr>
        <p:spPr>
          <a:xfrm>
            <a:off x="640080" y="5440680"/>
            <a:ext cx="10881360" cy="640080"/>
          </a:xfrm>
          <a:prstGeom prst="rect">
            <a:avLst/>
          </a:prstGeom>
          <a:noFill/>
          <a:ln/>
        </p:spPr>
        <p:txBody>
          <a:bodyPr wrap="square" lIns="0" tIns="0" rIns="0" bIns="0" rtlCol="0" anchor="t"/>
          <a:lstStyle/>
          <a:p>
            <a:pPr indent="0" marL="0">
              <a:lnSpc>
                <a:spcPts val="1700"/>
              </a:lnSpc>
              <a:buNone/>
            </a:pPr>
            <a:r>
              <a:rPr lang="en-US" sz="1250" i="1" dirty="0">
                <a:solidFill>
                  <a:srgbClr val="5A6B7C"/>
                </a:solidFill>
                <a:latin typeface="Calibri" pitchFamily="34" charset="0"/>
                <a:ea typeface="Calibri" pitchFamily="34" charset="-122"/>
                <a:cs typeface="Calibri" pitchFamily="34" charset="-120"/>
              </a:rPr>
              <a:t>The across-seed range is at least 0.5, so the paper reports per-seed counts and never the mean alone. The one concrete utility cost is on seed 42, where full-RGB clean accuracy falls from 0.8400 to 0.7600.</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E86DE"/>
                </a:solidFill>
                <a:latin typeface="Calibri" pitchFamily="34" charset="0"/>
                <a:ea typeface="Calibri" pitchFamily="34" charset="-122"/>
                <a:cs typeface="Calibri" pitchFamily="34" charset="-120"/>
              </a:rPr>
              <a:t>DISCUSSION   ·   1 of 3</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The leading explanation: blue's channel is nearly empty</a:t>
            </a:r>
            <a:endParaRPr lang="en-US" sz="3000" dirty="0"/>
          </a:p>
        </p:txBody>
      </p:sp>
      <p:sp>
        <p:nvSpPr>
          <p:cNvPr id="4" name="Shape 2"/>
          <p:cNvSpPr/>
          <p:nvPr/>
        </p:nvSpPr>
        <p:spPr>
          <a:xfrm>
            <a:off x="10506456" y="6291072"/>
            <a:ext cx="137160" cy="137160"/>
          </a:xfrm>
          <a:prstGeom prst="rect">
            <a:avLst/>
          </a:prstGeom>
          <a:solidFill>
            <a:srgbClr val="D3DCE4"/>
          </a:solidFill>
          <a:ln/>
        </p:spPr>
      </p:sp>
      <p:sp>
        <p:nvSpPr>
          <p:cNvPr id="5" name="Shape 3"/>
          <p:cNvSpPr/>
          <p:nvPr/>
        </p:nvSpPr>
        <p:spPr>
          <a:xfrm>
            <a:off x="10725912" y="6291072"/>
            <a:ext cx="137160" cy="137160"/>
          </a:xfrm>
          <a:prstGeom prst="rect">
            <a:avLst/>
          </a:prstGeom>
          <a:solidFill>
            <a:srgbClr val="D3DCE4"/>
          </a:solidFill>
          <a:ln/>
        </p:spPr>
      </p:sp>
      <p:sp>
        <p:nvSpPr>
          <p:cNvPr id="6" name="Shape 4"/>
          <p:cNvSpPr/>
          <p:nvPr/>
        </p:nvSpPr>
        <p:spPr>
          <a:xfrm>
            <a:off x="10945368" y="6291072"/>
            <a:ext cx="137160" cy="137160"/>
          </a:xfrm>
          <a:prstGeom prst="rect">
            <a:avLst/>
          </a:prstGeom>
          <a:solidFill>
            <a:srgbClr val="D3DCE4"/>
          </a:solidFill>
          <a:ln/>
        </p:spPr>
      </p:sp>
      <p:sp>
        <p:nvSpPr>
          <p:cNvPr id="7" name="Shape 5"/>
          <p:cNvSpPr/>
          <p:nvPr/>
        </p:nvSpPr>
        <p:spPr>
          <a:xfrm>
            <a:off x="11164824" y="6291072"/>
            <a:ext cx="137160" cy="137160"/>
          </a:xfrm>
          <a:prstGeom prst="rect">
            <a:avLst/>
          </a:prstGeom>
          <a:solidFill>
            <a:srgbClr val="2E86DE"/>
          </a:solidFill>
          <a:ln/>
        </p:spPr>
      </p:sp>
      <p:sp>
        <p:nvSpPr>
          <p:cNvPr id="8" name="Shape 6"/>
          <p:cNvSpPr/>
          <p:nvPr/>
        </p:nvSpPr>
        <p:spPr>
          <a:xfrm>
            <a:off x="11384280" y="6291072"/>
            <a:ext cx="137160" cy="137160"/>
          </a:xfrm>
          <a:prstGeom prst="rect">
            <a:avLst/>
          </a:prstGeom>
          <a:solidFill>
            <a:srgbClr val="D3DCE4"/>
          </a:solidFill>
          <a:ln/>
        </p:spPr>
      </p:sp>
      <p:graphicFrame>
        <p:nvGraphicFramePr>
          <p:cNvPr id="9" name="Chart 0" descr=""/>
          <p:cNvGraphicFramePr/>
          <p:nvPr/>
        </p:nvGraphicFramePr>
        <p:xfrm>
          <a:off x="640080" y="1691640"/>
          <a:ext cx="5852160" cy="356616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6766560" y="1737360"/>
            <a:ext cx="4754880" cy="2651760"/>
          </a:xfrm>
          <a:prstGeom prst="rect">
            <a:avLst/>
          </a:prstGeom>
          <a:noFill/>
          <a:ln/>
        </p:spPr>
        <p:txBody>
          <a:bodyPr wrap="square" lIns="0" tIns="0" rIns="0" bIns="0" rtlCol="0" anchor="t"/>
          <a:lstStyle/>
          <a:p>
            <a:pPr marL="342900" indent="-342900">
              <a:lnSpc>
                <a:spcPts val="2000"/>
              </a:lnSpc>
              <a:spcAft>
                <a:spcPts val="1100"/>
              </a:spcAft>
              <a:buSzPct val="100000"/>
              <a:buChar char="•"/>
            </a:pPr>
            <a:r>
              <a:rPr lang="en-US" sz="1350" dirty="0">
                <a:solidFill>
                  <a:srgbClr val="1B2A41"/>
                </a:solidFill>
                <a:latin typeface="Calibri" pitchFamily="34" charset="0"/>
                <a:ea typeface="Calibri" pitchFamily="34" charset="-122"/>
                <a:cs typeface="Calibri" pitchFamily="34" charset="-120"/>
              </a:rPr>
              <a:t>37.7% of red trigger-region pixels are already at 254 or above, where writing a white trigger changes nothing.</a:t>
            </a:r>
            <a:endParaRPr lang="en-US" sz="1350" dirty="0"/>
          </a:p>
          <a:p>
            <a:pPr marL="342900" indent="-342900">
              <a:lnSpc>
                <a:spcPts val="2000"/>
              </a:lnSpc>
              <a:spcAft>
                <a:spcPts val="1100"/>
              </a:spcAft>
              <a:buSzPct val="100000"/>
              <a:buChar char="•"/>
            </a:pPr>
            <a:r>
              <a:rPr lang="en-US" sz="1350" dirty="0">
                <a:solidFill>
                  <a:srgbClr val="1B2A41"/>
                </a:solidFill>
                <a:latin typeface="Calibri" pitchFamily="34" charset="0"/>
                <a:ea typeface="Calibri" pitchFamily="34" charset="-122"/>
                <a:cs typeface="Calibri" pitchFamily="34" charset="-120"/>
              </a:rPr>
              <a:t>Contrast explains red's failure but not green's, whose contrast is 207 and which still fails.</a:t>
            </a:r>
            <a:endParaRPr lang="en-US" sz="1350" dirty="0"/>
          </a:p>
          <a:p>
            <a:pPr marL="342900" indent="-342900">
              <a:lnSpc>
                <a:spcPts val="2000"/>
              </a:lnSpc>
              <a:buSzPct val="100000"/>
              <a:buChar char="•"/>
            </a:pPr>
            <a:r>
              <a:rPr lang="en-US" sz="1350" dirty="0">
                <a:solidFill>
                  <a:srgbClr val="1B2A41"/>
                </a:solidFill>
                <a:latin typeface="Calibri" pitchFamily="34" charset="0"/>
                <a:ea typeface="Calibri" pitchFamily="34" charset="-122"/>
                <a:cs typeface="Calibri" pitchFamily="34" charset="-120"/>
              </a:rPr>
              <a:t>Blue is a deterministic edge map, so its effect cannot come from information red and green lack. What is left is that it is almost empty.</a:t>
            </a:r>
            <a:endParaRPr lang="en-US" sz="1350" dirty="0"/>
          </a:p>
        </p:txBody>
      </p:sp>
      <p:sp>
        <p:nvSpPr>
          <p:cNvPr id="11" name="Shape 8"/>
          <p:cNvSpPr/>
          <p:nvPr/>
        </p:nvSpPr>
        <p:spPr>
          <a:xfrm>
            <a:off x="6766560" y="4572000"/>
            <a:ext cx="4754880" cy="822960"/>
          </a:xfrm>
          <a:prstGeom prst="roundRect">
            <a:avLst>
              <a:gd name="adj" fmla="val 6667"/>
            </a:avLst>
          </a:prstGeom>
          <a:solidFill>
            <a:srgbClr val="EDF1F5"/>
          </a:solidFill>
          <a:ln/>
        </p:spPr>
      </p:sp>
      <p:sp>
        <p:nvSpPr>
          <p:cNvPr id="12" name="Text 9"/>
          <p:cNvSpPr txBox="1"/>
          <p:nvPr/>
        </p:nvSpPr>
        <p:spPr>
          <a:xfrm>
            <a:off x="7040880" y="4709160"/>
            <a:ext cx="4206240" cy="594360"/>
          </a:xfrm>
          <a:prstGeom prst="rect">
            <a:avLst/>
          </a:prstGeom>
          <a:noFill/>
          <a:ln/>
        </p:spPr>
        <p:txBody>
          <a:bodyPr wrap="square" lIns="0" tIns="0" rIns="0" bIns="0" rtlCol="0" anchor="t"/>
          <a:lstStyle/>
          <a:p>
            <a:pPr indent="0" marL="0">
              <a:lnSpc>
                <a:spcPts val="1600"/>
              </a:lnSpc>
              <a:buNone/>
            </a:pPr>
            <a:r>
              <a:rPr lang="en-US" sz="1250" i="1" dirty="0">
                <a:solidFill>
                  <a:srgbClr val="1B2A41"/>
                </a:solidFill>
                <a:latin typeface="Calibri" pitchFamily="34" charset="0"/>
                <a:ea typeface="Calibri" pitchFamily="34" charset="-122"/>
                <a:cs typeface="Calibri" pitchFamily="34" charset="-120"/>
              </a:rPr>
              <a:t>Stated as a hypothesis, not a finding. A contrast-matched trigger is the experiment that would settle it.</a:t>
            </a:r>
            <a:endParaRPr lang="en-US" sz="1250" dirty="0"/>
          </a:p>
        </p:txBody>
      </p:sp>
      <p:sp>
        <p:nvSpPr>
          <p:cNvPr id="13" name="Text 10"/>
          <p:cNvSpPr txBox="1"/>
          <p:nvPr/>
        </p:nvSpPr>
        <p:spPr>
          <a:xfrm>
            <a:off x="640080" y="5577840"/>
            <a:ext cx="10881360" cy="640080"/>
          </a:xfrm>
          <a:prstGeom prst="rect">
            <a:avLst/>
          </a:prstGeom>
          <a:noFill/>
          <a:ln/>
        </p:spPr>
        <p:txBody>
          <a:bodyPr wrap="square" lIns="0" tIns="0" rIns="0" bIns="0" rtlCol="0" anchor="t"/>
          <a:lstStyle/>
          <a:p>
            <a:pPr indent="0" marL="0">
              <a:lnSpc>
                <a:spcPts val="1700"/>
              </a:lnSpc>
              <a:buNone/>
            </a:pPr>
            <a:r>
              <a:rPr lang="en-US" sz="1250" i="1" dirty="0">
                <a:solidFill>
                  <a:srgbClr val="5A6B7C"/>
                </a:solidFill>
                <a:latin typeface="Calibri" pitchFamily="34" charset="0"/>
                <a:ea typeface="Calibri" pitchFamily="34" charset="-122"/>
                <a:cs typeface="Calibri" pitchFamily="34" charset="-120"/>
              </a:rPr>
              <a:t>Contrast is 255 minus the mean intensity inside the bottom-right trigger region, over the 500 clean images. Region means are 214.6 / 48.3 / 21.6; whole-image channel means are 241.7 / 81.5 / 10.2. The measured region is about 13 px per side, 10% of the image.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E86DE"/>
                </a:solidFill>
                <a:latin typeface="Calibri" pitchFamily="34" charset="0"/>
                <a:ea typeface="Calibri" pitchFamily="34" charset="-122"/>
                <a:cs typeface="Calibri" pitchFamily="34" charset="-120"/>
              </a:rPr>
              <a:t>DISCUSSION   ·   2 of 3</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It flips because selection is close to a coin flip</a:t>
            </a:r>
            <a:endParaRPr lang="en-US" sz="3000" dirty="0"/>
          </a:p>
        </p:txBody>
      </p:sp>
      <p:sp>
        <p:nvSpPr>
          <p:cNvPr id="4" name="Shape 2"/>
          <p:cNvSpPr/>
          <p:nvPr/>
        </p:nvSpPr>
        <p:spPr>
          <a:xfrm>
            <a:off x="10506456" y="6291072"/>
            <a:ext cx="137160" cy="137160"/>
          </a:xfrm>
          <a:prstGeom prst="rect">
            <a:avLst/>
          </a:prstGeom>
          <a:solidFill>
            <a:srgbClr val="D3DCE4"/>
          </a:solidFill>
          <a:ln/>
        </p:spPr>
      </p:sp>
      <p:sp>
        <p:nvSpPr>
          <p:cNvPr id="5" name="Shape 3"/>
          <p:cNvSpPr/>
          <p:nvPr/>
        </p:nvSpPr>
        <p:spPr>
          <a:xfrm>
            <a:off x="10725912" y="6291072"/>
            <a:ext cx="137160" cy="137160"/>
          </a:xfrm>
          <a:prstGeom prst="rect">
            <a:avLst/>
          </a:prstGeom>
          <a:solidFill>
            <a:srgbClr val="D3DCE4"/>
          </a:solidFill>
          <a:ln/>
        </p:spPr>
      </p:sp>
      <p:sp>
        <p:nvSpPr>
          <p:cNvPr id="6" name="Shape 4"/>
          <p:cNvSpPr/>
          <p:nvPr/>
        </p:nvSpPr>
        <p:spPr>
          <a:xfrm>
            <a:off x="10945368" y="6291072"/>
            <a:ext cx="137160" cy="137160"/>
          </a:xfrm>
          <a:prstGeom prst="rect">
            <a:avLst/>
          </a:prstGeom>
          <a:solidFill>
            <a:srgbClr val="D3DCE4"/>
          </a:solidFill>
          <a:ln/>
        </p:spPr>
      </p:sp>
      <p:sp>
        <p:nvSpPr>
          <p:cNvPr id="7" name="Shape 5"/>
          <p:cNvSpPr/>
          <p:nvPr/>
        </p:nvSpPr>
        <p:spPr>
          <a:xfrm>
            <a:off x="11164824" y="6291072"/>
            <a:ext cx="137160" cy="137160"/>
          </a:xfrm>
          <a:prstGeom prst="rect">
            <a:avLst/>
          </a:prstGeom>
          <a:solidFill>
            <a:srgbClr val="2E86DE"/>
          </a:solidFill>
          <a:ln/>
        </p:spPr>
      </p:sp>
      <p:sp>
        <p:nvSpPr>
          <p:cNvPr id="8" name="Shape 6"/>
          <p:cNvSpPr/>
          <p:nvPr/>
        </p:nvSpPr>
        <p:spPr>
          <a:xfrm>
            <a:off x="11384280" y="6291072"/>
            <a:ext cx="137160" cy="137160"/>
          </a:xfrm>
          <a:prstGeom prst="rect">
            <a:avLst/>
          </a:prstGeom>
          <a:solidFill>
            <a:srgbClr val="D3DCE4"/>
          </a:solidFill>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7406640" cy="914400"/>
        </p:xfrm>
        <a:graphic>
          <a:graphicData uri="http://schemas.openxmlformats.org/drawingml/2006/table">
            <a:tbl>
              <a:tblPr/>
              <a:tblGrid>
                <a:gridCol w="2468880"/>
                <a:gridCol w="1828800"/>
                <a:gridCol w="1097280"/>
                <a:gridCol w="2011680"/>
              </a:tblGrid>
              <a:tr h="457200">
                <a:tc>
                  <a:txBody>
                    <a:bodyPr/>
                    <a:lstStyle/>
                    <a:p>
                      <a:pPr indent="0" marL="0">
                        <a:buNone/>
                      </a:pPr>
                      <a:r>
                        <a:rPr lang="en-US" sz="1250" b="1" dirty="0">
                          <a:solidFill>
                            <a:srgbClr val="1B2A41"/>
                          </a:solidFill>
                          <a:latin typeface="Calibri" pitchFamily="34" charset="0"/>
                          <a:ea typeface="Calibri" pitchFamily="34" charset="-122"/>
                          <a:cs typeface="Calibri" pitchFamily="34" charset="-120"/>
                        </a:rPr>
                        <a:t>Run</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A41"/>
                          </a:solidFill>
                          <a:latin typeface="Calibri" pitchFamily="34" charset="0"/>
                          <a:ea typeface="Calibri" pitchFamily="34" charset="-122"/>
                          <a:cs typeface="Calibri" pitchFamily="34" charset="-120"/>
                        </a:rPr>
                        <a:t>Malicious client kept</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A41"/>
                          </a:solidFill>
                          <a:latin typeface="Calibri" pitchFamily="34" charset="0"/>
                          <a:ea typeface="Calibri" pitchFamily="34" charset="-122"/>
                          <a:cs typeface="Calibri" pitchFamily="34" charset="-120"/>
                        </a:rPr>
                        <a:t>Rate</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A41"/>
                          </a:solidFill>
                          <a:latin typeface="Calibri" pitchFamily="34" charset="0"/>
                          <a:ea typeface="Calibri" pitchFamily="34" charset="-122"/>
                          <a:cs typeface="Calibri" pitchFamily="34" charset="-120"/>
                        </a:rPr>
                        <a:t>Final attack success</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Blue / fusion, seed 42</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25 of 50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50%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0392B"/>
                          </a:solidFill>
                          <a:latin typeface="Calibri" pitchFamily="34" charset="0"/>
                          <a:ea typeface="Calibri" pitchFamily="34" charset="-122"/>
                          <a:cs typeface="Calibri" pitchFamily="34" charset="-120"/>
                        </a:rPr>
                        <a:t>15/15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Blue / fusion, seed 123</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4 of 50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3/15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Blue / fusion, seed 2026</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16 of 50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32%</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5/15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Full RGB, seed 42</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14 of 50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28%</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6/15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Full RGB, seed 123</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22 of 50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44%</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0392B"/>
                          </a:solidFill>
                          <a:latin typeface="Calibri" pitchFamily="34" charset="0"/>
                          <a:ea typeface="Calibri" pitchFamily="34" charset="-122"/>
                          <a:cs typeface="Calibri" pitchFamily="34" charset="-120"/>
                        </a:rPr>
                        <a:t>15/15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A41"/>
                          </a:solidFill>
                          <a:latin typeface="Calibri" pitchFamily="34" charset="0"/>
                          <a:ea typeface="Calibri" pitchFamily="34" charset="-122"/>
                          <a:cs typeface="Calibri" pitchFamily="34" charset="-120"/>
                        </a:rPr>
                        <a:t>Full RGB, seed 2026</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9 of 50</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18%</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1"/>
                          </a:solidFill>
                          <a:latin typeface="Calibri" pitchFamily="34" charset="0"/>
                          <a:ea typeface="Calibri" pitchFamily="34" charset="-122"/>
                          <a:cs typeface="Calibri" pitchFamily="34" charset="-120"/>
                        </a:rPr>
                        <a:t>6/15</a:t>
                      </a:r>
                      <a:endParaRPr lang="en-US" sz="125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10" name="Shape 7"/>
          <p:cNvSpPr/>
          <p:nvPr/>
        </p:nvSpPr>
        <p:spPr>
          <a:xfrm>
            <a:off x="8321040" y="1737360"/>
            <a:ext cx="3200400" cy="1280160"/>
          </a:xfrm>
          <a:prstGeom prst="roundRect">
            <a:avLst>
              <a:gd name="adj" fmla="val 4286"/>
            </a:avLst>
          </a:prstGeom>
          <a:solidFill>
            <a:srgbClr val="E8F1FC"/>
          </a:solidFill>
          <a:ln/>
        </p:spPr>
      </p:sp>
      <p:sp>
        <p:nvSpPr>
          <p:cNvPr id="11" name="Text 8"/>
          <p:cNvSpPr txBox="1"/>
          <p:nvPr/>
        </p:nvSpPr>
        <p:spPr>
          <a:xfrm>
            <a:off x="8549640" y="1965960"/>
            <a:ext cx="2743200" cy="384048"/>
          </a:xfrm>
          <a:prstGeom prst="rect">
            <a:avLst/>
          </a:prstGeom>
          <a:noFill/>
          <a:ln/>
        </p:spPr>
        <p:txBody>
          <a:bodyPr wrap="square" lIns="0" tIns="0" rIns="0" bIns="0" rtlCol="0" anchor="ctr"/>
          <a:lstStyle/>
          <a:p>
            <a:pPr indent="0" marL="0">
              <a:buNone/>
            </a:pPr>
            <a:r>
              <a:rPr lang="en-US" sz="1800" b="1" dirty="0">
                <a:solidFill>
                  <a:srgbClr val="2E86DE"/>
                </a:solidFill>
                <a:latin typeface="Cambria" pitchFamily="34" charset="0"/>
                <a:ea typeface="Cambria" pitchFamily="34" charset="-122"/>
                <a:cs typeface="Cambria" pitchFamily="34" charset="-120"/>
              </a:rPr>
              <a:t>r = 0.893,  p = 0.017</a:t>
            </a:r>
            <a:endParaRPr lang="en-US" sz="1800" dirty="0"/>
          </a:p>
        </p:txBody>
      </p:sp>
      <p:sp>
        <p:nvSpPr>
          <p:cNvPr id="12" name="Text 9"/>
          <p:cNvSpPr txBox="1"/>
          <p:nvPr/>
        </p:nvSpPr>
        <p:spPr>
          <a:xfrm>
            <a:off x="8549640" y="2377440"/>
            <a:ext cx="2743200" cy="365760"/>
          </a:xfrm>
          <a:prstGeom prst="rect">
            <a:avLst/>
          </a:prstGeom>
          <a:noFill/>
          <a:ln/>
        </p:spPr>
        <p:txBody>
          <a:bodyPr wrap="square" lIns="0" tIns="0" rIns="0" bIns="0" rtlCol="0" anchor="t"/>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Pearson, across the six runs, n = 6</a:t>
            </a:r>
            <a:endParaRPr lang="en-US" sz="1150" dirty="0"/>
          </a:p>
        </p:txBody>
      </p:sp>
      <p:sp>
        <p:nvSpPr>
          <p:cNvPr id="13" name="Text 10"/>
          <p:cNvSpPr txBox="1"/>
          <p:nvPr/>
        </p:nvSpPr>
        <p:spPr>
          <a:xfrm>
            <a:off x="8321040" y="3291840"/>
            <a:ext cx="3200400" cy="2011680"/>
          </a:xfrm>
          <a:prstGeom prst="rect">
            <a:avLst/>
          </a:prstGeom>
          <a:noFill/>
          <a:ln/>
        </p:spPr>
        <p:txBody>
          <a:bodyPr wrap="square" lIns="0" tIns="0" rIns="0" bIns="0" rtlCol="0" anchor="t"/>
          <a:lstStyle/>
          <a:p>
            <a:pPr marL="342900" indent="-342900">
              <a:lnSpc>
                <a:spcPts val="2000"/>
              </a:lnSpc>
              <a:spcAft>
                <a:spcPts val="1100"/>
              </a:spcAft>
              <a:buSzPct val="100000"/>
              <a:buChar char="•"/>
            </a:pPr>
            <a:r>
              <a:rPr lang="en-US" sz="1250" dirty="0">
                <a:solidFill>
                  <a:srgbClr val="1B2A41"/>
                </a:solidFill>
                <a:latin typeface="Calibri" pitchFamily="34" charset="0"/>
                <a:ea typeface="Calibri" pitchFamily="34" charset="-122"/>
                <a:cs typeface="Calibri" pitchFamily="34" charset="-120"/>
              </a:rPr>
              <a:t>With f = 1 and |S| = 2 of five clients, the poisoned update is not an outlier in parameter space.</a:t>
            </a:r>
            <a:endParaRPr lang="en-US" sz="1250" dirty="0"/>
          </a:p>
          <a:p>
            <a:pPr marL="342900" indent="-342900">
              <a:lnSpc>
                <a:spcPts val="2000"/>
              </a:lnSpc>
              <a:buSzPct val="100000"/>
              <a:buChar char="•"/>
            </a:pPr>
            <a:r>
              <a:rPr lang="en-US" sz="1250" dirty="0">
                <a:solidFill>
                  <a:srgbClr val="1B2A41"/>
                </a:solidFill>
                <a:latin typeface="Calibri" pitchFamily="34" charset="0"/>
                <a:ea typeface="Calibri" pitchFamily="34" charset="-122"/>
                <a:cs typeface="Calibri" pitchFamily="34" charset="-120"/>
              </a:rPr>
              <a:t>Surviving selection is close to a coin flip, and the attacker only has to win often enough.</a:t>
            </a:r>
            <a:endParaRPr lang="en-US" sz="1250" dirty="0"/>
          </a:p>
        </p:txBody>
      </p:sp>
      <p:sp>
        <p:nvSpPr>
          <p:cNvPr id="14" name="Text 11"/>
          <p:cNvSpPr txBox="1"/>
          <p:nvPr/>
        </p:nvSpPr>
        <p:spPr>
          <a:xfrm>
            <a:off x="640080" y="5532120"/>
            <a:ext cx="10881360" cy="640080"/>
          </a:xfrm>
          <a:prstGeom prst="rect">
            <a:avLst/>
          </a:prstGeom>
          <a:noFill/>
          <a:ln/>
        </p:spPr>
        <p:txBody>
          <a:bodyPr wrap="square" lIns="0" tIns="0" rIns="0" bIns="0" rtlCol="0" anchor="t"/>
          <a:lstStyle/>
          <a:p>
            <a:pPr indent="0" marL="0">
              <a:lnSpc>
                <a:spcPts val="1700"/>
              </a:lnSpc>
              <a:buNone/>
            </a:pPr>
            <a:r>
              <a:rPr lang="en-US" sz="1250" i="1" dirty="0">
                <a:solidFill>
                  <a:srgbClr val="5A6B7C"/>
                </a:solidFill>
                <a:latin typeface="Calibri" pitchFamily="34" charset="0"/>
                <a:ea typeface="Calibri" pitchFamily="34" charset="-122"/>
                <a:cs typeface="Calibri" pitchFamily="34" charset="-120"/>
              </a:rPr>
              <a:t>The rank correlation is weaker and not significant at this size: Spearman rho = 0.794, p = 0.059, n = 6. Retention tracks the outcome; it is not established as the cause.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E86DE"/>
                </a:solidFill>
                <a:latin typeface="Calibri" pitchFamily="34" charset="0"/>
                <a:ea typeface="Calibri" pitchFamily="34" charset="-122"/>
                <a:cs typeface="Calibri" pitchFamily="34" charset="-120"/>
              </a:rPr>
              <a:t>DISCUSSION   ·   3 of 3</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Under Multi-Krum the attack never settles</a:t>
            </a:r>
            <a:endParaRPr lang="en-US" sz="3000" dirty="0"/>
          </a:p>
        </p:txBody>
      </p:sp>
      <p:sp>
        <p:nvSpPr>
          <p:cNvPr id="4" name="Shape 2"/>
          <p:cNvSpPr/>
          <p:nvPr/>
        </p:nvSpPr>
        <p:spPr>
          <a:xfrm>
            <a:off x="10506456" y="6291072"/>
            <a:ext cx="137160" cy="137160"/>
          </a:xfrm>
          <a:prstGeom prst="rect">
            <a:avLst/>
          </a:prstGeom>
          <a:solidFill>
            <a:srgbClr val="D3DCE4"/>
          </a:solidFill>
          <a:ln/>
        </p:spPr>
      </p:sp>
      <p:sp>
        <p:nvSpPr>
          <p:cNvPr id="5" name="Shape 3"/>
          <p:cNvSpPr/>
          <p:nvPr/>
        </p:nvSpPr>
        <p:spPr>
          <a:xfrm>
            <a:off x="10725912" y="6291072"/>
            <a:ext cx="137160" cy="137160"/>
          </a:xfrm>
          <a:prstGeom prst="rect">
            <a:avLst/>
          </a:prstGeom>
          <a:solidFill>
            <a:srgbClr val="D3DCE4"/>
          </a:solidFill>
          <a:ln/>
        </p:spPr>
      </p:sp>
      <p:sp>
        <p:nvSpPr>
          <p:cNvPr id="6" name="Shape 4"/>
          <p:cNvSpPr/>
          <p:nvPr/>
        </p:nvSpPr>
        <p:spPr>
          <a:xfrm>
            <a:off x="10945368" y="6291072"/>
            <a:ext cx="137160" cy="137160"/>
          </a:xfrm>
          <a:prstGeom prst="rect">
            <a:avLst/>
          </a:prstGeom>
          <a:solidFill>
            <a:srgbClr val="D3DCE4"/>
          </a:solidFill>
          <a:ln/>
        </p:spPr>
      </p:sp>
      <p:sp>
        <p:nvSpPr>
          <p:cNvPr id="7" name="Shape 5"/>
          <p:cNvSpPr/>
          <p:nvPr/>
        </p:nvSpPr>
        <p:spPr>
          <a:xfrm>
            <a:off x="11164824" y="6291072"/>
            <a:ext cx="137160" cy="137160"/>
          </a:xfrm>
          <a:prstGeom prst="rect">
            <a:avLst/>
          </a:prstGeom>
          <a:solidFill>
            <a:srgbClr val="2E86DE"/>
          </a:solidFill>
          <a:ln/>
        </p:spPr>
      </p:sp>
      <p:sp>
        <p:nvSpPr>
          <p:cNvPr id="8" name="Shape 6"/>
          <p:cNvSpPr/>
          <p:nvPr/>
        </p:nvSpPr>
        <p:spPr>
          <a:xfrm>
            <a:off x="11384280" y="6291072"/>
            <a:ext cx="137160" cy="137160"/>
          </a:xfrm>
          <a:prstGeom prst="rect">
            <a:avLst/>
          </a:prstGeom>
          <a:solidFill>
            <a:srgbClr val="D3DCE4"/>
          </a:solidFill>
          <a:ln/>
        </p:spPr>
      </p:sp>
      <p:pic>
        <p:nvPicPr>
          <p:cNvPr id="9" name="Image 0" descr="C:\Users\wwyl5\AppData\Local\Temp\claude\C--Users-wwyl5-Project-malware\2fec8f88-30d4-496b-a0be-d788b278a963\scratchpad\ppt\perround-1.png">    </p:cNvPr>
          <p:cNvPicPr>
            <a:picLocks noChangeAspect="1"/>
          </p:cNvPicPr>
          <p:nvPr/>
        </p:nvPicPr>
        <p:blipFill>
          <a:blip r:embed="rId1"/>
          <a:srcRect l="0" r="0" t="0" b="0"/>
          <a:stretch/>
        </p:blipFill>
        <p:spPr>
          <a:xfrm>
            <a:off x="640080" y="1737360"/>
            <a:ext cx="6858000" cy="3657600"/>
          </a:xfrm>
          <a:prstGeom prst="rect">
            <a:avLst/>
          </a:prstGeom>
        </p:spPr>
      </p:pic>
      <p:sp>
        <p:nvSpPr>
          <p:cNvPr id="10" name="Text 7"/>
          <p:cNvSpPr txBox="1"/>
          <p:nvPr/>
        </p:nvSpPr>
        <p:spPr>
          <a:xfrm>
            <a:off x="7772400" y="1783080"/>
            <a:ext cx="3749040" cy="3200400"/>
          </a:xfrm>
          <a:prstGeom prst="rect">
            <a:avLst/>
          </a:prstGeom>
          <a:noFill/>
          <a:ln/>
        </p:spPr>
        <p:txBody>
          <a:bodyPr wrap="square" lIns="0" tIns="0" rIns="0" bIns="0" rtlCol="0" anchor="t"/>
          <a:lstStyle/>
          <a:p>
            <a:pPr marL="342900" indent="-342900">
              <a:lnSpc>
                <a:spcPts val="2000"/>
              </a:lnSpc>
              <a:spcAft>
                <a:spcPts val="1100"/>
              </a:spcAft>
              <a:buSzPct val="100000"/>
              <a:buChar char="•"/>
            </a:pPr>
            <a:r>
              <a:rPr lang="en-US" sz="1300" dirty="0">
                <a:solidFill>
                  <a:srgbClr val="1B2A41"/>
                </a:solidFill>
                <a:latin typeface="Calibri" pitchFamily="34" charset="0"/>
                <a:ea typeface="Calibri" pitchFamily="34" charset="-122"/>
                <a:cs typeface="Calibri" pitchFamily="34" charset="-120"/>
              </a:rPr>
              <a:t>The backdoored models track the clean baseline in macro-F1 throughout training.</a:t>
            </a:r>
            <a:endParaRPr lang="en-US" sz="1300" dirty="0"/>
          </a:p>
          <a:p>
            <a:pPr marL="342900" indent="-342900">
              <a:lnSpc>
                <a:spcPts val="2000"/>
              </a:lnSpc>
              <a:spcAft>
                <a:spcPts val="1100"/>
              </a:spcAft>
              <a:buSzPct val="100000"/>
              <a:buChar char="•"/>
            </a:pPr>
            <a:r>
              <a:rPr lang="en-US" sz="1300" dirty="0">
                <a:solidFill>
                  <a:srgbClr val="1B2A41"/>
                </a:solidFill>
                <a:latin typeface="Calibri" pitchFamily="34" charset="0"/>
                <a:ea typeface="Calibri" pitchFamily="34" charset="-122"/>
                <a:cs typeface="Calibri" pitchFamily="34" charset="-120"/>
              </a:rPr>
              <a:t>Under FedAvg both triggers climb to 15 of 15 and stay there.</a:t>
            </a:r>
            <a:endParaRPr lang="en-US" sz="1300" dirty="0"/>
          </a:p>
          <a:p>
            <a:pPr marL="342900" indent="-342900">
              <a:lnSpc>
                <a:spcPts val="2000"/>
              </a:lnSpc>
              <a:buSzPct val="100000"/>
              <a:buChar char="•"/>
            </a:pPr>
            <a:r>
              <a:rPr lang="en-US" sz="1300" dirty="0">
                <a:solidFill>
                  <a:srgbClr val="1B2A41"/>
                </a:solidFill>
                <a:latin typeface="Calibri" pitchFamily="34" charset="0"/>
                <a:ea typeface="Calibri" pitchFamily="34" charset="-122"/>
                <a:cs typeface="Calibri" pitchFamily="34" charset="-120"/>
              </a:rPr>
              <a:t>Under Multi-Krum the curves stay unstable round to round, so there is no stable partial suppression level to rely on.</a:t>
            </a:r>
            <a:endParaRPr lang="en-US" sz="1300" dirty="0"/>
          </a:p>
        </p:txBody>
      </p:sp>
      <p:sp>
        <p:nvSpPr>
          <p:cNvPr id="11" name="Text 8"/>
          <p:cNvSpPr txBox="1"/>
          <p:nvPr/>
        </p:nvSpPr>
        <p:spPr>
          <a:xfrm>
            <a:off x="640080" y="5577840"/>
            <a:ext cx="10881360" cy="640080"/>
          </a:xfrm>
          <a:prstGeom prst="rect">
            <a:avLst/>
          </a:prstGeom>
          <a:noFill/>
          <a:ln/>
        </p:spPr>
        <p:txBody>
          <a:bodyPr wrap="square" lIns="0" tIns="0" rIns="0" bIns="0" rtlCol="0" anchor="t"/>
          <a:lstStyle/>
          <a:p>
            <a:pPr indent="0" marL="0">
              <a:lnSpc>
                <a:spcPts val="1700"/>
              </a:lnSpc>
              <a:buNone/>
            </a:pPr>
            <a:r>
              <a:rPr lang="en-US" sz="1250" i="1" dirty="0">
                <a:solidFill>
                  <a:srgbClr val="5A6B7C"/>
                </a:solidFill>
                <a:latin typeface="Calibri" pitchFamily="34" charset="0"/>
                <a:ea typeface="Calibri" pitchFamily="34" charset="-122"/>
                <a:cs typeface="Calibri" pitchFamily="34" charset="-120"/>
              </a:rPr>
              <a:t>Per-round test-set curves across the three seeds; shaded areas are the standard deviation across seeds. The first rounds are not meaningful: the global model is still close to initialization and collapses onto one or two classes.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E86DE"/>
                </a:solidFill>
                <a:latin typeface="Calibri" pitchFamily="34" charset="0"/>
                <a:ea typeface="Calibri" pitchFamily="34" charset="-122"/>
                <a:cs typeface="Calibri" pitchFamily="34" charset="-120"/>
              </a:rPr>
              <a:t>CONCLUSION   ·   1 of 2</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What the evidence supports, and where it stops</a:t>
            </a:r>
            <a:endParaRPr lang="en-US" sz="3000" dirty="0"/>
          </a:p>
        </p:txBody>
      </p:sp>
      <p:sp>
        <p:nvSpPr>
          <p:cNvPr id="4" name="Shape 2"/>
          <p:cNvSpPr/>
          <p:nvPr/>
        </p:nvSpPr>
        <p:spPr>
          <a:xfrm>
            <a:off x="10506456" y="6291072"/>
            <a:ext cx="137160" cy="137160"/>
          </a:xfrm>
          <a:prstGeom prst="rect">
            <a:avLst/>
          </a:prstGeom>
          <a:solidFill>
            <a:srgbClr val="D3DCE4"/>
          </a:solidFill>
          <a:ln/>
        </p:spPr>
      </p:sp>
      <p:sp>
        <p:nvSpPr>
          <p:cNvPr id="5" name="Shape 3"/>
          <p:cNvSpPr/>
          <p:nvPr/>
        </p:nvSpPr>
        <p:spPr>
          <a:xfrm>
            <a:off x="10725912" y="6291072"/>
            <a:ext cx="137160" cy="137160"/>
          </a:xfrm>
          <a:prstGeom prst="rect">
            <a:avLst/>
          </a:prstGeom>
          <a:solidFill>
            <a:srgbClr val="D3DCE4"/>
          </a:solidFill>
          <a:ln/>
        </p:spPr>
      </p:sp>
      <p:sp>
        <p:nvSpPr>
          <p:cNvPr id="6" name="Shape 4"/>
          <p:cNvSpPr/>
          <p:nvPr/>
        </p:nvSpPr>
        <p:spPr>
          <a:xfrm>
            <a:off x="10945368" y="6291072"/>
            <a:ext cx="137160" cy="137160"/>
          </a:xfrm>
          <a:prstGeom prst="rect">
            <a:avLst/>
          </a:prstGeom>
          <a:solidFill>
            <a:srgbClr val="D3DCE4"/>
          </a:solidFill>
          <a:ln/>
        </p:spPr>
      </p:sp>
      <p:sp>
        <p:nvSpPr>
          <p:cNvPr id="7" name="Shape 5"/>
          <p:cNvSpPr/>
          <p:nvPr/>
        </p:nvSpPr>
        <p:spPr>
          <a:xfrm>
            <a:off x="11164824" y="6291072"/>
            <a:ext cx="137160" cy="137160"/>
          </a:xfrm>
          <a:prstGeom prst="rect">
            <a:avLst/>
          </a:prstGeom>
          <a:solidFill>
            <a:srgbClr val="D3DCE4"/>
          </a:solidFill>
          <a:ln/>
        </p:spPr>
      </p:sp>
      <p:sp>
        <p:nvSpPr>
          <p:cNvPr id="8" name="Shape 6"/>
          <p:cNvSpPr/>
          <p:nvPr/>
        </p:nvSpPr>
        <p:spPr>
          <a:xfrm>
            <a:off x="11384280" y="6291072"/>
            <a:ext cx="137160" cy="137160"/>
          </a:xfrm>
          <a:prstGeom prst="rect">
            <a:avLst/>
          </a:prstGeom>
          <a:solidFill>
            <a:srgbClr val="2E86DE"/>
          </a:solidFill>
          <a:ln/>
        </p:spPr>
      </p:sp>
      <p:sp>
        <p:nvSpPr>
          <p:cNvPr id="9" name="Text 7"/>
          <p:cNvSpPr txBox="1"/>
          <p:nvPr/>
        </p:nvSpPr>
        <p:spPr>
          <a:xfrm>
            <a:off x="640080" y="1691640"/>
            <a:ext cx="5303520" cy="274320"/>
          </a:xfrm>
          <a:prstGeom prst="rect">
            <a:avLst/>
          </a:prstGeom>
          <a:noFill/>
          <a:ln/>
        </p:spPr>
        <p:txBody>
          <a:bodyPr wrap="square" lIns="0" tIns="0" rIns="0" bIns="0" rtlCol="0" anchor="ctr"/>
          <a:lstStyle/>
          <a:p>
            <a:pPr indent="0" marL="0">
              <a:buNone/>
            </a:pPr>
            <a:r>
              <a:rPr lang="en-US" sz="1200" b="1" spc="150" kern="0" dirty="0">
                <a:solidFill>
                  <a:srgbClr val="2E86DE"/>
                </a:solidFill>
                <a:latin typeface="Calibri" pitchFamily="34" charset="0"/>
                <a:ea typeface="Calibri" pitchFamily="34" charset="-122"/>
                <a:cs typeface="Calibri" pitchFamily="34" charset="-120"/>
              </a:rPr>
              <a:t>ESTABLISHED</a:t>
            </a:r>
            <a:endParaRPr lang="en-US" sz="1200" dirty="0"/>
          </a:p>
        </p:txBody>
      </p:sp>
      <p:sp>
        <p:nvSpPr>
          <p:cNvPr id="10" name="Text 8"/>
          <p:cNvSpPr txBox="1"/>
          <p:nvPr/>
        </p:nvSpPr>
        <p:spPr>
          <a:xfrm>
            <a:off x="640080" y="2103120"/>
            <a:ext cx="5303520" cy="3291840"/>
          </a:xfrm>
          <a:prstGeom prst="rect">
            <a:avLst/>
          </a:prstGeom>
          <a:noFill/>
          <a:ln/>
        </p:spPr>
        <p:txBody>
          <a:bodyPr wrap="square" lIns="0" tIns="0" rIns="0" bIns="0" rtlCol="0" anchor="t"/>
          <a:lstStyle/>
          <a:p>
            <a:pPr marL="342900" indent="-342900">
              <a:lnSpc>
                <a:spcPts val="2000"/>
              </a:lnSpc>
              <a:spcAft>
                <a:spcPts val="1100"/>
              </a:spcAft>
              <a:buSzPct val="100000"/>
              <a:buChar char="•"/>
            </a:pPr>
            <a:r>
              <a:rPr lang="en-US" sz="1450" dirty="0">
                <a:solidFill>
                  <a:srgbClr val="1B2A41"/>
                </a:solidFill>
                <a:latin typeface="Calibri" pitchFamily="34" charset="0"/>
                <a:ea typeface="Calibri" pitchFamily="34" charset="-122"/>
                <a:cs typeface="Calibri" pitchFamily="34" charset="-120"/>
              </a:rPr>
              <a:t>Blue/fusion and full-RGB triggers reach 15 of 15 across three seeds, with clean performance close to the baseline.</a:t>
            </a:r>
            <a:endParaRPr lang="en-US" sz="1450" dirty="0"/>
          </a:p>
          <a:p>
            <a:pPr marL="342900" indent="-342900">
              <a:lnSpc>
                <a:spcPts val="2000"/>
              </a:lnSpc>
              <a:spcAft>
                <a:spcPts val="1100"/>
              </a:spcAft>
              <a:buSzPct val="100000"/>
              <a:buChar char="•"/>
            </a:pPr>
            <a:r>
              <a:rPr lang="en-US" sz="1450" dirty="0">
                <a:solidFill>
                  <a:srgbClr val="1B2A41"/>
                </a:solidFill>
                <a:latin typeface="Calibri" pitchFamily="34" charset="0"/>
                <a:ea typeface="Calibri" pitchFamily="34" charset="-122"/>
                <a:cs typeface="Calibri" pitchFamily="34" charset="-120"/>
              </a:rPr>
              <a:t>In seven of the eight trigger controls the target rate is identical with and without the trigger, so the effect comes from poisoning.</a:t>
            </a:r>
            <a:endParaRPr lang="en-US" sz="1450" dirty="0"/>
          </a:p>
          <a:p>
            <a:pPr marL="342900" indent="-342900">
              <a:lnSpc>
                <a:spcPts val="2000"/>
              </a:lnSpc>
              <a:buSzPct val="100000"/>
              <a:buChar char="•"/>
            </a:pPr>
            <a:r>
              <a:rPr lang="en-US" sz="1450" dirty="0">
                <a:solidFill>
                  <a:srgbClr val="1B2A41"/>
                </a:solidFill>
                <a:latin typeface="Calibri" pitchFamily="34" charset="0"/>
                <a:ea typeface="Calibri" pitchFamily="34" charset="-122"/>
                <a:cs typeface="Calibri" pitchFamily="34" charset="-120"/>
              </a:rPr>
              <a:t>Multi-Krum reduces the attack bimodally rather than partially, leaving it fully effective on one of the three seeds for each trigger.</a:t>
            </a:r>
            <a:endParaRPr lang="en-US" sz="1450" dirty="0"/>
          </a:p>
        </p:txBody>
      </p:sp>
      <p:sp>
        <p:nvSpPr>
          <p:cNvPr id="11" name="Text 9"/>
          <p:cNvSpPr txBox="1"/>
          <p:nvPr/>
        </p:nvSpPr>
        <p:spPr>
          <a:xfrm>
            <a:off x="6492240" y="1691640"/>
            <a:ext cx="5029200" cy="274320"/>
          </a:xfrm>
          <a:prstGeom prst="rect">
            <a:avLst/>
          </a:prstGeom>
          <a:noFill/>
          <a:ln/>
        </p:spPr>
        <p:txBody>
          <a:bodyPr wrap="square" lIns="0" tIns="0" rIns="0" bIns="0" rtlCol="0" anchor="ctr"/>
          <a:lstStyle/>
          <a:p>
            <a:pPr indent="0" marL="0">
              <a:buNone/>
            </a:pPr>
            <a:r>
              <a:rPr lang="en-US" sz="1200" b="1" spc="150" kern="0" dirty="0">
                <a:solidFill>
                  <a:srgbClr val="C0392B"/>
                </a:solidFill>
                <a:latin typeface="Calibri" pitchFamily="34" charset="0"/>
                <a:ea typeface="Calibri" pitchFamily="34" charset="-122"/>
                <a:cs typeface="Calibri" pitchFamily="34" charset="-120"/>
              </a:rPr>
              <a:t>NOT ESTABLISHED</a:t>
            </a:r>
            <a:endParaRPr lang="en-US" sz="1200" dirty="0"/>
          </a:p>
        </p:txBody>
      </p:sp>
      <p:sp>
        <p:nvSpPr>
          <p:cNvPr id="12" name="Shape 10"/>
          <p:cNvSpPr/>
          <p:nvPr/>
        </p:nvSpPr>
        <p:spPr>
          <a:xfrm>
            <a:off x="6492240" y="2157984"/>
            <a:ext cx="201168" cy="201168"/>
          </a:xfrm>
          <a:prstGeom prst="rect">
            <a:avLst/>
          </a:prstGeom>
          <a:solidFill>
            <a:srgbClr val="C0392B"/>
          </a:solidFill>
          <a:ln/>
        </p:spPr>
      </p:sp>
      <p:sp>
        <p:nvSpPr>
          <p:cNvPr id="13" name="Text 11"/>
          <p:cNvSpPr txBox="1"/>
          <p:nvPr/>
        </p:nvSpPr>
        <p:spPr>
          <a:xfrm>
            <a:off x="6858000" y="2103120"/>
            <a:ext cx="4663440" cy="274320"/>
          </a:xfrm>
          <a:prstGeom prst="rect">
            <a:avLst/>
          </a:prstGeom>
          <a:noFill/>
          <a:ln/>
        </p:spPr>
        <p:txBody>
          <a:bodyPr wrap="square" lIns="0" tIns="0" rIns="0" bIns="0" rtlCol="0" anchor="t"/>
          <a:lstStyle/>
          <a:p>
            <a:pPr indent="0" marL="0">
              <a:buNone/>
            </a:pPr>
            <a:r>
              <a:rPr lang="en-US" sz="1350" b="1" dirty="0">
                <a:solidFill>
                  <a:srgbClr val="1B2A41"/>
                </a:solidFill>
                <a:latin typeface="Calibri" pitchFamily="34" charset="0"/>
                <a:ea typeface="Calibri" pitchFamily="34" charset="-122"/>
                <a:cs typeface="Calibri" pitchFamily="34" charset="-120"/>
              </a:rPr>
              <a:t>Three seeds</a:t>
            </a:r>
            <a:endParaRPr lang="en-US" sz="1350" dirty="0"/>
          </a:p>
        </p:txBody>
      </p:sp>
      <p:sp>
        <p:nvSpPr>
          <p:cNvPr id="14" name="Text 12"/>
          <p:cNvSpPr txBox="1"/>
          <p:nvPr/>
        </p:nvSpPr>
        <p:spPr>
          <a:xfrm>
            <a:off x="6858000" y="2377440"/>
            <a:ext cx="4663440" cy="411480"/>
          </a:xfrm>
          <a:prstGeom prst="rect">
            <a:avLst/>
          </a:prstGeom>
          <a:noFill/>
          <a:ln/>
        </p:spPr>
        <p:txBody>
          <a:bodyPr wrap="square" lIns="0" tIns="0" rIns="0" bIns="0" rtlCol="0" anchor="t"/>
          <a:lstStyle/>
          <a:p>
            <a:pPr indent="0" marL="0">
              <a:lnSpc>
                <a:spcPts val="1600"/>
              </a:lnSpc>
              <a:buNone/>
            </a:pPr>
            <a:r>
              <a:rPr lang="en-US" sz="1250" dirty="0">
                <a:solidFill>
                  <a:srgbClr val="5A6B7C"/>
                </a:solidFill>
                <a:latin typeface="Calibri" pitchFamily="34" charset="0"/>
                <a:ea typeface="Calibri" pitchFamily="34" charset="-122"/>
                <a:cs typeface="Calibri" pitchFamily="34" charset="-120"/>
              </a:rPr>
              <a:t>and the red and green results rest on seed 42 alone</a:t>
            </a:r>
            <a:endParaRPr lang="en-US" sz="1250" dirty="0"/>
          </a:p>
        </p:txBody>
      </p:sp>
      <p:sp>
        <p:nvSpPr>
          <p:cNvPr id="15" name="Shape 13"/>
          <p:cNvSpPr/>
          <p:nvPr/>
        </p:nvSpPr>
        <p:spPr>
          <a:xfrm>
            <a:off x="6492240" y="3026664"/>
            <a:ext cx="201168" cy="201168"/>
          </a:xfrm>
          <a:prstGeom prst="rect">
            <a:avLst/>
          </a:prstGeom>
          <a:solidFill>
            <a:srgbClr val="C0392B"/>
          </a:solidFill>
          <a:ln/>
        </p:spPr>
      </p:sp>
      <p:sp>
        <p:nvSpPr>
          <p:cNvPr id="16" name="Text 14"/>
          <p:cNvSpPr txBox="1"/>
          <p:nvPr/>
        </p:nvSpPr>
        <p:spPr>
          <a:xfrm>
            <a:off x="6858000" y="2971800"/>
            <a:ext cx="4663440" cy="274320"/>
          </a:xfrm>
          <a:prstGeom prst="rect">
            <a:avLst/>
          </a:prstGeom>
          <a:noFill/>
          <a:ln/>
        </p:spPr>
        <p:txBody>
          <a:bodyPr wrap="square" lIns="0" tIns="0" rIns="0" bIns="0" rtlCol="0" anchor="t"/>
          <a:lstStyle/>
          <a:p>
            <a:pPr indent="0" marL="0">
              <a:buNone/>
            </a:pPr>
            <a:r>
              <a:rPr lang="en-US" sz="1350" b="1" dirty="0">
                <a:solidFill>
                  <a:srgbClr val="1B2A41"/>
                </a:solidFill>
                <a:latin typeface="Calibri" pitchFamily="34" charset="0"/>
                <a:ea typeface="Calibri" pitchFamily="34" charset="-122"/>
                <a:cs typeface="Calibri" pitchFamily="34" charset="-120"/>
              </a:rPr>
              <a:t>One source-target pair</a:t>
            </a:r>
            <a:endParaRPr lang="en-US" sz="1350" dirty="0"/>
          </a:p>
        </p:txBody>
      </p:sp>
      <p:sp>
        <p:nvSpPr>
          <p:cNvPr id="17" name="Text 15"/>
          <p:cNvSpPr txBox="1"/>
          <p:nvPr/>
        </p:nvSpPr>
        <p:spPr>
          <a:xfrm>
            <a:off x="6858000" y="3246120"/>
            <a:ext cx="4663440" cy="411480"/>
          </a:xfrm>
          <a:prstGeom prst="rect">
            <a:avLst/>
          </a:prstGeom>
          <a:noFill/>
          <a:ln/>
        </p:spPr>
        <p:txBody>
          <a:bodyPr wrap="square" lIns="0" tIns="0" rIns="0" bIns="0" rtlCol="0" anchor="t"/>
          <a:lstStyle/>
          <a:p>
            <a:pPr indent="0" marL="0">
              <a:lnSpc>
                <a:spcPts val="1600"/>
              </a:lnSpc>
              <a:buNone/>
            </a:pPr>
            <a:r>
              <a:rPr lang="en-US" sz="1250" dirty="0">
                <a:solidFill>
                  <a:srgbClr val="5A6B7C"/>
                </a:solidFill>
                <a:latin typeface="Calibri" pitchFamily="34" charset="0"/>
                <a:ea typeface="Calibri" pitchFamily="34" charset="-122"/>
                <a:cs typeface="Calibri" pitchFamily="34" charset="-120"/>
              </a:rPr>
              <a:t>AgentTesla to FormBook only</a:t>
            </a:r>
            <a:endParaRPr lang="en-US" sz="1250" dirty="0"/>
          </a:p>
        </p:txBody>
      </p:sp>
      <p:sp>
        <p:nvSpPr>
          <p:cNvPr id="18" name="Shape 16"/>
          <p:cNvSpPr/>
          <p:nvPr/>
        </p:nvSpPr>
        <p:spPr>
          <a:xfrm>
            <a:off x="6492240" y="3895344"/>
            <a:ext cx="201168" cy="201168"/>
          </a:xfrm>
          <a:prstGeom prst="rect">
            <a:avLst/>
          </a:prstGeom>
          <a:solidFill>
            <a:srgbClr val="C0392B"/>
          </a:solidFill>
          <a:ln/>
        </p:spPr>
      </p:sp>
      <p:sp>
        <p:nvSpPr>
          <p:cNvPr id="19" name="Text 17"/>
          <p:cNvSpPr txBox="1"/>
          <p:nvPr/>
        </p:nvSpPr>
        <p:spPr>
          <a:xfrm>
            <a:off x="6858000" y="3840480"/>
            <a:ext cx="4663440" cy="274320"/>
          </a:xfrm>
          <a:prstGeom prst="rect">
            <a:avLst/>
          </a:prstGeom>
          <a:noFill/>
          <a:ln/>
        </p:spPr>
        <p:txBody>
          <a:bodyPr wrap="square" lIns="0" tIns="0" rIns="0" bIns="0" rtlCol="0" anchor="t"/>
          <a:lstStyle/>
          <a:p>
            <a:pPr indent="0" marL="0">
              <a:buNone/>
            </a:pPr>
            <a:r>
              <a:rPr lang="en-US" sz="1350" b="1" dirty="0">
                <a:solidFill>
                  <a:srgbClr val="1B2A41"/>
                </a:solidFill>
                <a:latin typeface="Calibri" pitchFamily="34" charset="0"/>
                <a:ea typeface="Calibri" pitchFamily="34" charset="-122"/>
                <a:cs typeface="Calibri" pitchFamily="34" charset="-120"/>
              </a:rPr>
              <a:t>IID partition only</a:t>
            </a:r>
            <a:endParaRPr lang="en-US" sz="1350" dirty="0"/>
          </a:p>
        </p:txBody>
      </p:sp>
      <p:sp>
        <p:nvSpPr>
          <p:cNvPr id="20" name="Text 18"/>
          <p:cNvSpPr txBox="1"/>
          <p:nvPr/>
        </p:nvSpPr>
        <p:spPr>
          <a:xfrm>
            <a:off x="6858000" y="4114800"/>
            <a:ext cx="4663440" cy="411480"/>
          </a:xfrm>
          <a:prstGeom prst="rect">
            <a:avLst/>
          </a:prstGeom>
          <a:noFill/>
          <a:ln/>
        </p:spPr>
        <p:txBody>
          <a:bodyPr wrap="square" lIns="0" tIns="0" rIns="0" bIns="0" rtlCol="0" anchor="t"/>
          <a:lstStyle/>
          <a:p>
            <a:pPr indent="0" marL="0">
              <a:lnSpc>
                <a:spcPts val="1600"/>
              </a:lnSpc>
              <a:buNone/>
            </a:pPr>
            <a:r>
              <a:rPr lang="en-US" sz="1250" dirty="0">
                <a:solidFill>
                  <a:srgbClr val="5A6B7C"/>
                </a:solidFill>
                <a:latin typeface="Calibri" pitchFamily="34" charset="0"/>
                <a:ea typeface="Calibri" pitchFamily="34" charset="-122"/>
                <a:cs typeface="Calibri" pitchFamily="34" charset="-120"/>
              </a:rPr>
              <a:t>although the motivation for federation is non-IID data</a:t>
            </a:r>
            <a:endParaRPr lang="en-US" sz="1250" dirty="0"/>
          </a:p>
        </p:txBody>
      </p:sp>
      <p:sp>
        <p:nvSpPr>
          <p:cNvPr id="21" name="Shape 19"/>
          <p:cNvSpPr/>
          <p:nvPr/>
        </p:nvSpPr>
        <p:spPr>
          <a:xfrm>
            <a:off x="6492240" y="4764024"/>
            <a:ext cx="201168" cy="201168"/>
          </a:xfrm>
          <a:prstGeom prst="rect">
            <a:avLst/>
          </a:prstGeom>
          <a:solidFill>
            <a:srgbClr val="C0392B"/>
          </a:solidFill>
          <a:ln/>
        </p:spPr>
      </p:sp>
      <p:sp>
        <p:nvSpPr>
          <p:cNvPr id="22" name="Text 20"/>
          <p:cNvSpPr txBox="1"/>
          <p:nvPr/>
        </p:nvSpPr>
        <p:spPr>
          <a:xfrm>
            <a:off x="6858000" y="4709160"/>
            <a:ext cx="4663440" cy="274320"/>
          </a:xfrm>
          <a:prstGeom prst="rect">
            <a:avLst/>
          </a:prstGeom>
          <a:noFill/>
          <a:ln/>
        </p:spPr>
        <p:txBody>
          <a:bodyPr wrap="square" lIns="0" tIns="0" rIns="0" bIns="0" rtlCol="0" anchor="t"/>
          <a:lstStyle/>
          <a:p>
            <a:pPr indent="0" marL="0">
              <a:buNone/>
            </a:pPr>
            <a:r>
              <a:rPr lang="en-US" sz="1350" b="1" dirty="0">
                <a:solidFill>
                  <a:srgbClr val="1B2A41"/>
                </a:solidFill>
                <a:latin typeface="Calibri" pitchFamily="34" charset="0"/>
                <a:ea typeface="Calibri" pitchFamily="34" charset="-122"/>
                <a:cs typeface="Calibri" pitchFamily="34" charset="-120"/>
              </a:rPr>
              <a:t>Emptiness is a hypothesis</a:t>
            </a:r>
            <a:endParaRPr lang="en-US" sz="1350" dirty="0"/>
          </a:p>
        </p:txBody>
      </p:sp>
      <p:sp>
        <p:nvSpPr>
          <p:cNvPr id="23" name="Text 21"/>
          <p:cNvSpPr txBox="1"/>
          <p:nvPr/>
        </p:nvSpPr>
        <p:spPr>
          <a:xfrm>
            <a:off x="6858000" y="4983480"/>
            <a:ext cx="4663440" cy="411480"/>
          </a:xfrm>
          <a:prstGeom prst="rect">
            <a:avLst/>
          </a:prstGeom>
          <a:noFill/>
          <a:ln/>
        </p:spPr>
        <p:txBody>
          <a:bodyPr wrap="square" lIns="0" tIns="0" rIns="0" bIns="0" rtlCol="0" anchor="t"/>
          <a:lstStyle/>
          <a:p>
            <a:pPr indent="0" marL="0">
              <a:lnSpc>
                <a:spcPts val="1600"/>
              </a:lnSpc>
              <a:buNone/>
            </a:pPr>
            <a:r>
              <a:rPr lang="en-US" sz="1250" dirty="0">
                <a:solidFill>
                  <a:srgbClr val="5A6B7C"/>
                </a:solidFill>
                <a:latin typeface="Calibri" pitchFamily="34" charset="0"/>
                <a:ea typeface="Calibri" pitchFamily="34" charset="-122"/>
                <a:cs typeface="Calibri" pitchFamily="34" charset="-120"/>
              </a:rPr>
              <a:t>consistent with the measurements, not established</a:t>
            </a:r>
            <a:endParaRPr lang="en-US" sz="1250" dirty="0"/>
          </a:p>
        </p:txBody>
      </p:sp>
      <p:sp>
        <p:nvSpPr>
          <p:cNvPr id="24" name="Text 22"/>
          <p:cNvSpPr txBox="1"/>
          <p:nvPr/>
        </p:nvSpPr>
        <p:spPr>
          <a:xfrm>
            <a:off x="640080" y="5623560"/>
            <a:ext cx="10881360" cy="640080"/>
          </a:xfrm>
          <a:prstGeom prst="rect">
            <a:avLst/>
          </a:prstGeom>
          <a:noFill/>
          <a:ln/>
        </p:spPr>
        <p:txBody>
          <a:bodyPr wrap="square" lIns="0" tIns="0" rIns="0" bIns="0" rtlCol="0" anchor="t"/>
          <a:lstStyle/>
          <a:p>
            <a:pPr indent="0" marL="0">
              <a:lnSpc>
                <a:spcPts val="1700"/>
              </a:lnSpc>
              <a:buNone/>
            </a:pPr>
            <a:r>
              <a:rPr lang="en-US" sz="1250" i="1" dirty="0">
                <a:solidFill>
                  <a:srgbClr val="5A6B7C"/>
                </a:solidFill>
                <a:latin typeface="Calibri" pitchFamily="34" charset="0"/>
                <a:ea typeface="Calibri" pitchFamily="34" charset="-122"/>
                <a:cs typeface="Calibri" pitchFamily="34" charset="-120"/>
              </a:rPr>
              <a:t>A non-IID partition, a second source-target pair and a contrast-matched trigger are the three experiments left to future work. The split files already carry a non-IID client assignment, so that one is available rather than blocked.</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1820"/>
        </a:solidFill>
      </p:bgPr>
    </p:bg>
    <p:spTree>
      <p:nvGrpSpPr>
        <p:cNvPr id="1" name=""/>
        <p:cNvGrpSpPr/>
        <p:nvPr/>
      </p:nvGrpSpPr>
      <p:grpSpPr>
        <a:xfrm>
          <a:off x="0" y="0"/>
          <a:ext cx="0" cy="0"/>
          <a:chOff x="0" y="0"/>
          <a:chExt cx="0" cy="0"/>
        </a:xfrm>
      </p:grpSpPr>
      <p:sp>
        <p:nvSpPr>
          <p:cNvPr id="2" name="Shape 0"/>
          <p:cNvSpPr/>
          <p:nvPr/>
        </p:nvSpPr>
        <p:spPr>
          <a:xfrm>
            <a:off x="10506456" y="6291072"/>
            <a:ext cx="137160" cy="137160"/>
          </a:xfrm>
          <a:prstGeom prst="rect">
            <a:avLst/>
          </a:prstGeom>
          <a:solidFill>
            <a:srgbClr val="36485C"/>
          </a:solidFill>
          <a:ln/>
        </p:spPr>
      </p:sp>
      <p:sp>
        <p:nvSpPr>
          <p:cNvPr id="3" name="Shape 1"/>
          <p:cNvSpPr/>
          <p:nvPr/>
        </p:nvSpPr>
        <p:spPr>
          <a:xfrm>
            <a:off x="10725912" y="6291072"/>
            <a:ext cx="137160" cy="137160"/>
          </a:xfrm>
          <a:prstGeom prst="rect">
            <a:avLst/>
          </a:prstGeom>
          <a:solidFill>
            <a:srgbClr val="36485C"/>
          </a:solidFill>
          <a:ln/>
        </p:spPr>
      </p:sp>
      <p:sp>
        <p:nvSpPr>
          <p:cNvPr id="4" name="Shape 2"/>
          <p:cNvSpPr/>
          <p:nvPr/>
        </p:nvSpPr>
        <p:spPr>
          <a:xfrm>
            <a:off x="10945368" y="6291072"/>
            <a:ext cx="137160" cy="137160"/>
          </a:xfrm>
          <a:prstGeom prst="rect">
            <a:avLst/>
          </a:prstGeom>
          <a:solidFill>
            <a:srgbClr val="36485C"/>
          </a:solidFill>
          <a:ln/>
        </p:spPr>
      </p:sp>
      <p:sp>
        <p:nvSpPr>
          <p:cNvPr id="5" name="Shape 3"/>
          <p:cNvSpPr/>
          <p:nvPr/>
        </p:nvSpPr>
        <p:spPr>
          <a:xfrm>
            <a:off x="11164824" y="6291072"/>
            <a:ext cx="137160" cy="137160"/>
          </a:xfrm>
          <a:prstGeom prst="rect">
            <a:avLst/>
          </a:prstGeom>
          <a:solidFill>
            <a:srgbClr val="36485C"/>
          </a:solidFill>
          <a:ln/>
        </p:spPr>
      </p:sp>
      <p:sp>
        <p:nvSpPr>
          <p:cNvPr id="6" name="Shape 4"/>
          <p:cNvSpPr/>
          <p:nvPr/>
        </p:nvSpPr>
        <p:spPr>
          <a:xfrm>
            <a:off x="11384280" y="6291072"/>
            <a:ext cx="137160" cy="137160"/>
          </a:xfrm>
          <a:prstGeom prst="rect">
            <a:avLst/>
          </a:prstGeom>
          <a:solidFill>
            <a:srgbClr val="2E86DE"/>
          </a:solidFill>
          <a:ln/>
        </p:spPr>
      </p:sp>
      <p:sp>
        <p:nvSpPr>
          <p:cNvPr id="7" name="Text 5"/>
          <p:cNvSpPr txBox="1"/>
          <p:nvPr/>
        </p:nvSpPr>
        <p:spPr>
          <a:xfrm>
            <a:off x="640080" y="457200"/>
            <a:ext cx="9144000" cy="256032"/>
          </a:xfrm>
          <a:prstGeom prst="rect">
            <a:avLst/>
          </a:prstGeom>
          <a:noFill/>
          <a:ln/>
        </p:spPr>
        <p:txBody>
          <a:bodyPr wrap="square" lIns="0" tIns="0" rIns="0" bIns="0" rtlCol="0" anchor="ctr"/>
          <a:lstStyle/>
          <a:p>
            <a:pPr indent="0" marL="0">
              <a:buNone/>
            </a:pPr>
            <a:r>
              <a:rPr lang="en-US" sz="1100" b="1" spc="200" kern="0" dirty="0">
                <a:solidFill>
                  <a:srgbClr val="2E86DE"/>
                </a:solidFill>
                <a:latin typeface="Calibri" pitchFamily="34" charset="0"/>
                <a:ea typeface="Calibri" pitchFamily="34" charset="-122"/>
                <a:cs typeface="Calibri" pitchFamily="34" charset="-120"/>
              </a:rPr>
              <a:t>CONCLUSION   ·   2 of 2</a:t>
            </a:r>
            <a:endParaRPr lang="en-US" sz="1100" dirty="0"/>
          </a:p>
        </p:txBody>
      </p:sp>
      <p:sp>
        <p:nvSpPr>
          <p:cNvPr id="8" name="Text 6"/>
          <p:cNvSpPr txBox="1"/>
          <p:nvPr/>
        </p:nvSpPr>
        <p:spPr>
          <a:xfrm>
            <a:off x="640080" y="804672"/>
            <a:ext cx="108813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to take away</a:t>
            </a:r>
            <a:endParaRPr lang="en-US" sz="3400" dirty="0"/>
          </a:p>
        </p:txBody>
      </p:sp>
      <p:sp>
        <p:nvSpPr>
          <p:cNvPr id="9" name="Shape 7"/>
          <p:cNvSpPr/>
          <p:nvPr/>
        </p:nvSpPr>
        <p:spPr>
          <a:xfrm>
            <a:off x="640080" y="1965960"/>
            <a:ext cx="274320" cy="274320"/>
          </a:xfrm>
          <a:prstGeom prst="rect">
            <a:avLst/>
          </a:prstGeom>
          <a:solidFill>
            <a:srgbClr val="2E86DE"/>
          </a:solidFill>
          <a:ln/>
        </p:spPr>
      </p:sp>
      <p:sp>
        <p:nvSpPr>
          <p:cNvPr id="10" name="Text 8"/>
          <p:cNvSpPr txBox="1"/>
          <p:nvPr/>
        </p:nvSpPr>
        <p:spPr>
          <a:xfrm>
            <a:off x="1188720" y="1874520"/>
            <a:ext cx="1024128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channel is the attack surface</a:t>
            </a:r>
            <a:endParaRPr lang="en-US" sz="1800" dirty="0"/>
          </a:p>
        </p:txBody>
      </p:sp>
      <p:sp>
        <p:nvSpPr>
          <p:cNvPr id="11" name="Text 9"/>
          <p:cNvSpPr txBox="1"/>
          <p:nvPr/>
        </p:nvSpPr>
        <p:spPr>
          <a:xfrm>
            <a:off x="1188720" y="2258568"/>
            <a:ext cx="10241280" cy="548640"/>
          </a:xfrm>
          <a:prstGeom prst="rect">
            <a:avLst/>
          </a:prstGeom>
          <a:noFill/>
          <a:ln/>
        </p:spPr>
        <p:txBody>
          <a:bodyPr wrap="square" lIns="0" tIns="0" rIns="0" bIns="0" rtlCol="0" anchor="t"/>
          <a:lstStyle/>
          <a:p>
            <a:pPr indent="0" marL="0">
              <a:lnSpc>
                <a:spcPts val="1900"/>
              </a:lnSpc>
              <a:buNone/>
            </a:pPr>
            <a:r>
              <a:rPr lang="en-US" sz="1400" dirty="0">
                <a:solidFill>
                  <a:srgbClr val="9FB3C8"/>
                </a:solidFill>
                <a:latin typeface="Calibri" pitchFamily="34" charset="0"/>
                <a:ea typeface="Calibri" pitchFamily="34" charset="-122"/>
                <a:cs typeface="Calibri" pitchFamily="34" charset="-120"/>
              </a:rPr>
              <a:t>A trigger in the fusion channel alone matches one spanning all three. Red and green do nothing measurable.</a:t>
            </a:r>
            <a:endParaRPr lang="en-US" sz="1400" dirty="0"/>
          </a:p>
        </p:txBody>
      </p:sp>
      <p:sp>
        <p:nvSpPr>
          <p:cNvPr id="12" name="Shape 10"/>
          <p:cNvSpPr/>
          <p:nvPr/>
        </p:nvSpPr>
        <p:spPr>
          <a:xfrm>
            <a:off x="640080" y="3200400"/>
            <a:ext cx="274320" cy="274320"/>
          </a:xfrm>
          <a:prstGeom prst="rect">
            <a:avLst/>
          </a:prstGeom>
          <a:solidFill>
            <a:srgbClr val="2E86DE"/>
          </a:solidFill>
          <a:ln/>
        </p:spPr>
      </p:sp>
      <p:sp>
        <p:nvSpPr>
          <p:cNvPr id="13" name="Text 11"/>
          <p:cNvSpPr txBox="1"/>
          <p:nvPr/>
        </p:nvSpPr>
        <p:spPr>
          <a:xfrm>
            <a:off x="1188720" y="3108960"/>
            <a:ext cx="1024128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effective channel carries no information</a:t>
            </a:r>
            <a:endParaRPr lang="en-US" sz="1800" dirty="0"/>
          </a:p>
        </p:txBody>
      </p:sp>
      <p:sp>
        <p:nvSpPr>
          <p:cNvPr id="14" name="Text 12"/>
          <p:cNvSpPr txBox="1"/>
          <p:nvPr/>
        </p:nvSpPr>
        <p:spPr>
          <a:xfrm>
            <a:off x="1188720" y="3493008"/>
            <a:ext cx="10241280" cy="548640"/>
          </a:xfrm>
          <a:prstGeom prst="rect">
            <a:avLst/>
          </a:prstGeom>
          <a:noFill/>
          <a:ln/>
        </p:spPr>
        <p:txBody>
          <a:bodyPr wrap="square" lIns="0" tIns="0" rIns="0" bIns="0" rtlCol="0" anchor="t"/>
          <a:lstStyle/>
          <a:p>
            <a:pPr indent="0" marL="0">
              <a:lnSpc>
                <a:spcPts val="1900"/>
              </a:lnSpc>
              <a:buNone/>
            </a:pPr>
            <a:r>
              <a:rPr lang="en-US" sz="1400" dirty="0">
                <a:solidFill>
                  <a:srgbClr val="9FB3C8"/>
                </a:solidFill>
                <a:latin typeface="Calibri" pitchFamily="34" charset="0"/>
                <a:ea typeface="Calibri" pitchFamily="34" charset="-122"/>
                <a:cs typeface="Calibri" pitchFamily="34" charset="-120"/>
              </a:rPr>
              <a:t>Blue is a deterministic edge map of the other two, and the emptiest of the three.</a:t>
            </a:r>
            <a:endParaRPr lang="en-US" sz="1400" dirty="0"/>
          </a:p>
        </p:txBody>
      </p:sp>
      <p:sp>
        <p:nvSpPr>
          <p:cNvPr id="15" name="Shape 13"/>
          <p:cNvSpPr/>
          <p:nvPr/>
        </p:nvSpPr>
        <p:spPr>
          <a:xfrm>
            <a:off x="640080" y="4434840"/>
            <a:ext cx="274320" cy="274320"/>
          </a:xfrm>
          <a:prstGeom prst="rect">
            <a:avLst/>
          </a:prstGeom>
          <a:solidFill>
            <a:srgbClr val="2E86DE"/>
          </a:solidFill>
          <a:ln/>
        </p:spPr>
      </p:sp>
      <p:sp>
        <p:nvSpPr>
          <p:cNvPr id="16" name="Text 14"/>
          <p:cNvSpPr txBox="1"/>
          <p:nvPr/>
        </p:nvSpPr>
        <p:spPr>
          <a:xfrm>
            <a:off x="1188720" y="4343400"/>
            <a:ext cx="1024128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Robust aggregation flips rather than degrades</a:t>
            </a:r>
            <a:endParaRPr lang="en-US" sz="1800" dirty="0"/>
          </a:p>
        </p:txBody>
      </p:sp>
      <p:sp>
        <p:nvSpPr>
          <p:cNvPr id="17" name="Text 15"/>
          <p:cNvSpPr txBox="1"/>
          <p:nvPr/>
        </p:nvSpPr>
        <p:spPr>
          <a:xfrm>
            <a:off x="1188720" y="4727448"/>
            <a:ext cx="10241280" cy="548640"/>
          </a:xfrm>
          <a:prstGeom prst="rect">
            <a:avLst/>
          </a:prstGeom>
          <a:noFill/>
          <a:ln/>
        </p:spPr>
        <p:txBody>
          <a:bodyPr wrap="square" lIns="0" tIns="0" rIns="0" bIns="0" rtlCol="0" anchor="t"/>
          <a:lstStyle/>
          <a:p>
            <a:pPr indent="0" marL="0">
              <a:lnSpc>
                <a:spcPts val="1900"/>
              </a:lnSpc>
              <a:buNone/>
            </a:pPr>
            <a:r>
              <a:rPr lang="en-US" sz="1400" dirty="0">
                <a:solidFill>
                  <a:srgbClr val="9FB3C8"/>
                </a:solidFill>
                <a:latin typeface="Calibri" pitchFamily="34" charset="0"/>
                <a:ea typeface="Calibri" pitchFamily="34" charset="-122"/>
                <a:cs typeface="Calibri" pitchFamily="34" charset="-120"/>
              </a:rPr>
              <a:t>Multi-Krum leaves the backdoor fully effective on one seed in three, so it is unreliable on its own.</a:t>
            </a:r>
            <a:endParaRPr lang="en-US" sz="1400" dirty="0"/>
          </a:p>
        </p:txBody>
      </p:sp>
      <p:sp>
        <p:nvSpPr>
          <p:cNvPr id="18" name="Text 16"/>
          <p:cNvSpPr txBox="1"/>
          <p:nvPr/>
        </p:nvSpPr>
        <p:spPr>
          <a:xfrm>
            <a:off x="640080" y="5623560"/>
            <a:ext cx="10881360" cy="640080"/>
          </a:xfrm>
          <a:prstGeom prst="rect">
            <a:avLst/>
          </a:prstGeom>
          <a:noFill/>
          <a:ln/>
        </p:spPr>
        <p:txBody>
          <a:bodyPr wrap="square" lIns="0" tIns="0" rIns="0" bIns="0" rtlCol="0" anchor="t"/>
          <a:lstStyle/>
          <a:p>
            <a:pPr indent="0" marL="0">
              <a:lnSpc>
                <a:spcPts val="2100"/>
              </a:lnSpc>
              <a:buNone/>
            </a:pPr>
            <a:r>
              <a:rPr lang="en-US" sz="1600" i="1" dirty="0">
                <a:solidFill>
                  <a:srgbClr val="FFFFFF"/>
                </a:solidFill>
                <a:latin typeface="Cambria" pitchFamily="34" charset="0"/>
                <a:ea typeface="Cambria" pitchFamily="34" charset="-122"/>
                <a:cs typeface="Cambria" pitchFamily="34" charset="-120"/>
              </a:rPr>
              <a:t>Defenses that inspect updates miss a threat that lives in the representation. In this controlled IID setting, that motivates representation-aware defenses.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Channel-Aware Backdoor Attacks in Federated Malware Classification</dc:title>
  <dc:subject>PptxGenJS Presentation</dc:subject>
  <dc:creator>Aziz, Mubarok, Fitria</dc:creator>
  <cp:lastModifiedBy>Aziz, Mubarok, Fitria</cp:lastModifiedBy>
  <cp:revision>1</cp:revision>
  <dcterms:created xsi:type="dcterms:W3CDTF">2026-09-06T06:58:39Z</dcterms:created>
  <dcterms:modified xsi:type="dcterms:W3CDTF">2026-09-06T06:58:39Z</dcterms:modified>
</cp:coreProperties>
</file>